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Play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EF97B1-A88F-475C-899D-7408CD3B68C9}">
  <a:tblStyle styleId="{3DEF97B1-A88F-475C-899D-7408CD3B68C9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75CAB05-87E2-4C6F-9B0D-5CD4AEA3BFA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ay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Play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36f4f4348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36f4f4348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36f4f4348_2_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36f4f4348_2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36f4f4348_2_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36f4f4348_2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6fa96c01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36fa96c01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36f4f4348_2_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36f4f4348_2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36f4f4348_2_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a36f4f4348_2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36f4f4348_2_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36f4f4348_2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36f4f4348_2_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a36f4f4348_2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36f4f4348_2_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a36f4f4348_2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36f4f4348_2_1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a36f4f4348_2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36fa96c01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a36fa96c01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36f4f4348_2_1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36f4f4348_2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36f4f4348_2_2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a36f4f4348_2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36f4f4348_2_2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a36f4f4348_2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36f4f4348_2_2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a36f4f4348_2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36f4f4348_2_2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a36f4f4348_2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36f4f4348_2_2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a36f4f4348_2_2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36fa96c01_0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a36fa96c01_0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36fa96c01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a36fa96c01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36fa96c01_0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a36fa96c01_0_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36fa96c0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a36fa96c0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3" name="Google Shape;93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hemanthballa07/HALO-RA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>
            <p:ph type="ctrTitle"/>
          </p:nvPr>
        </p:nvSpPr>
        <p:spPr>
          <a:xfrm>
            <a:off x="977500" y="1523809"/>
            <a:ext cx="6760800" cy="15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b="1" lang="en-GB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Self-Verification Chains for Hallucination-Free RAG</a:t>
            </a:r>
            <a:endParaRPr b="1"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t/>
            </a:r>
            <a:endParaRPr b="1"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25000"/>
              <a:buFont typeface="Times New Roman"/>
              <a:buNone/>
            </a:pPr>
            <a:r>
              <a:rPr b="1" lang="en-GB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https://github.com/hemanthballa07/HALO-RAG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5"/>
          <p:cNvSpPr/>
          <p:nvPr/>
        </p:nvSpPr>
        <p:spPr>
          <a:xfrm rot="10800000">
            <a:off x="-6" y="3280916"/>
            <a:ext cx="9144005" cy="1862583"/>
          </a:xfrm>
          <a:prstGeom prst="rect">
            <a:avLst/>
          </a:prstGeom>
          <a:gradFill>
            <a:gsLst>
              <a:gs pos="0">
                <a:srgbClr val="0F4861"/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 flipH="1" rot="10800000">
            <a:off x="6105491" y="3280916"/>
            <a:ext cx="3038508" cy="1862585"/>
          </a:xfrm>
          <a:prstGeom prst="rect">
            <a:avLst/>
          </a:prstGeom>
          <a:gradFill>
            <a:gsLst>
              <a:gs pos="0">
                <a:srgbClr val="156082">
                  <a:alpha val="20784"/>
                </a:srgbClr>
              </a:gs>
              <a:gs pos="4000">
                <a:srgbClr val="156082">
                  <a:alpha val="20784"/>
                </a:srgbClr>
              </a:gs>
              <a:gs pos="83000">
                <a:srgbClr val="0A3041">
                  <a:alpha val="60784"/>
                </a:srgbClr>
              </a:gs>
              <a:gs pos="100000">
                <a:srgbClr val="0A3041">
                  <a:alpha val="60784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 rot="10800000">
            <a:off x="0" y="3284572"/>
            <a:ext cx="9143988" cy="1465446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32000">
                <a:srgbClr val="0A3041">
                  <a:alpha val="0"/>
                </a:srgbClr>
              </a:gs>
              <a:gs pos="100000">
                <a:srgbClr val="156082">
                  <a:alpha val="54901"/>
                </a:srgbClr>
              </a:gs>
            </a:gsLst>
            <a:lin ang="66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-6" y="3285695"/>
            <a:ext cx="9144000" cy="1514582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32000">
                <a:srgbClr val="0A3041">
                  <a:alpha val="0"/>
                </a:srgbClr>
              </a:gs>
              <a:gs pos="100000">
                <a:srgbClr val="000000">
                  <a:alpha val="44705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277585" y="3669542"/>
            <a:ext cx="5778029" cy="808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</a:pPr>
            <a:r>
              <a:rPr b="1" lang="en-GB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CIS 6930: Special Topics in Large Language Models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</a:pPr>
            <a:r>
              <a:rPr b="1" lang="en-GB" sz="2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Florida</a:t>
            </a:r>
            <a:endParaRPr b="1" sz="21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6199632" y="3400847"/>
            <a:ext cx="2729484" cy="14042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br>
              <a:rPr b="1" i="0" lang="en-GB" sz="9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Hemanth Balla (UFID: 64798116)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Anisa Shaik (UFID: 49373585)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Reshma Koshy (UFID: 52903493)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Pranay Reddy Pullaiahgari (UFID: 62381134)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&amp; Motivation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607694" y="487110"/>
            <a:ext cx="4916510" cy="415953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The Hallucination Problem in RAG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What is RAG?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335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grounds LLM outputs in factual evidence</a:t>
            </a:r>
            <a:endParaRPr/>
          </a:p>
          <a:p>
            <a:pPr indent="-17335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Combines document retrieval with language generation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The Critical Gap: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Despite using retrieved evidence, LLMs still hallucinate in 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25-30%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of responses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Standard RAG systems lack mechanisms to: </a:t>
            </a:r>
            <a:endParaRPr/>
          </a:p>
          <a:p>
            <a:pPr indent="-173355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Detect their own hallucinations</a:t>
            </a:r>
            <a:endParaRPr/>
          </a:p>
          <a:p>
            <a:pPr indent="-173355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Correct erroneous outputs</a:t>
            </a:r>
            <a:endParaRPr/>
          </a:p>
          <a:p>
            <a:pPr indent="-173355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Learn from errors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Real-World Impact: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335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Misinformation in customer support chatbots</a:t>
            </a:r>
            <a:endParaRPr/>
          </a:p>
          <a:p>
            <a:pPr indent="-17335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Incorrect medical/legal advice</a:t>
            </a:r>
            <a:endParaRPr/>
          </a:p>
          <a:p>
            <a:pPr indent="-17335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Loss of user trust in AI systems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7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7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imes New Roman"/>
              <a:buNone/>
            </a:pPr>
            <a:r>
              <a:rPr b="1" lang="en-GB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Hallucinations?</a:t>
            </a:r>
            <a:br>
              <a:rPr lang="en-GB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607694" y="487110"/>
            <a:ext cx="4916400" cy="4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Generated content that is </a:t>
            </a: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not supported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by the retrieved evidence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Query: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"When was the University of Florida founded?"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Retrieved Context: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"The University of Florida was established in 1853..."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Hallucinated Answer: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"The University of Florida was founded in </a:t>
            </a: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1900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."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Correct Answer: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"The University of Florida was founded in </a:t>
            </a: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1853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."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Types of Hallucinations: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Fabrication: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Inventing facts not in context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Extrapolation: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Making unsupported inferences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Misattribution: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Mixing facts from different sources incorrectly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0" y="0"/>
            <a:ext cx="9141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8"/>
          <p:cNvSpPr/>
          <p:nvPr/>
        </p:nvSpPr>
        <p:spPr>
          <a:xfrm flipH="1" rot="5400000">
            <a:off x="-1057624" y="1057500"/>
            <a:ext cx="5143500" cy="30285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12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8"/>
          <p:cNvSpPr/>
          <p:nvPr/>
        </p:nvSpPr>
        <p:spPr>
          <a:xfrm flipH="1" rot="5400000">
            <a:off x="-1057624" y="1065104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8"/>
          <p:cNvSpPr/>
          <p:nvPr/>
        </p:nvSpPr>
        <p:spPr>
          <a:xfrm flipH="1" rot="5400000">
            <a:off x="575875" y="2690996"/>
            <a:ext cx="1876500" cy="30285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8"/>
          <p:cNvSpPr/>
          <p:nvPr/>
        </p:nvSpPr>
        <p:spPr>
          <a:xfrm rot="-964601">
            <a:off x="-376648" y="727714"/>
            <a:ext cx="2922552" cy="3131309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8"/>
          <p:cNvSpPr/>
          <p:nvPr/>
        </p:nvSpPr>
        <p:spPr>
          <a:xfrm flipH="1" rot="5400000">
            <a:off x="-1057631" y="1049896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8"/>
          <p:cNvSpPr txBox="1"/>
          <p:nvPr>
            <p:ph type="title"/>
          </p:nvPr>
        </p:nvSpPr>
        <p:spPr>
          <a:xfrm>
            <a:off x="350042" y="440141"/>
            <a:ext cx="2400900" cy="254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Questions &amp; Objectives</a:t>
            </a:r>
            <a:br>
              <a:rPr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607694" y="487110"/>
            <a:ext cx="4916400" cy="4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Primary Research Questions: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RQ1: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Can we quantify hallucination probabilities so that the system can state, with transparency, when an answer is or isn’t hallucinated?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RQ2: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Can we achie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ve(near) zero hallucination without sacrificing answer quality?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Project Objectives: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Build end-to-end self-verifying RAG pipeline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Achieve Hallucination Rate ≤ 0.10 (target)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Demonstrate measurable improvement in Verified F1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Compare revision strategies quantitatively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9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9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9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9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9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384325" y="287400"/>
            <a:ext cx="2400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imes New Roman"/>
              <a:buNone/>
            </a:pPr>
            <a:r>
              <a:rPr b="1" lang="en-GB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Architecture:</a:t>
            </a:r>
            <a:endParaRPr b="1" sz="2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imes New Roman"/>
              <a:buNone/>
            </a:pPr>
            <a:r>
              <a:t/>
            </a:r>
            <a:endParaRPr b="1" sz="2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imes New Roman"/>
              <a:buNone/>
            </a:pPr>
            <a:r>
              <a:rPr b="1" lang="en-GB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HALO-RAG: Hallucination-Aware Learning &amp; Optimization for RAG</a:t>
            </a:r>
            <a:br>
              <a:rPr lang="en-GB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3347120" y="45760"/>
            <a:ext cx="2268900" cy="4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10000"/>
          </a:bodyPr>
          <a:lstStyle/>
          <a:p>
            <a:pPr indent="76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Hybrid Retrieval: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Dense (FAISS) + Sparse (BM25) fusion</a:t>
            </a:r>
            <a:endParaRPr/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Cross-Encoder Reranking: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Select most relevant passages</a:t>
            </a:r>
            <a:endParaRPr/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Answer Generation: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FLAN-T5-Large produces candidate answer</a:t>
            </a:r>
            <a:endParaRPr/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Claim Extraction: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Parse answer into atomic factual claims</a:t>
            </a:r>
            <a:endParaRPr/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Verification: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NLI model checks each claim against evidence</a:t>
            </a:r>
            <a:endParaRPr/>
          </a:p>
          <a:p>
            <a:pPr indent="-635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lang="en-GB" sz="1300">
                <a:latin typeface="Times New Roman"/>
                <a:ea typeface="Times New Roman"/>
                <a:cs typeface="Times New Roman"/>
                <a:sym typeface="Times New Roman"/>
              </a:rPr>
              <a:t>Adaptive Revision:</a:t>
            </a:r>
            <a:r>
              <a:rPr lang="en-GB" sz="1300">
                <a:latin typeface="Times New Roman"/>
                <a:ea typeface="Times New Roman"/>
                <a:cs typeface="Times New Roman"/>
                <a:sym typeface="Times New Roman"/>
              </a:rPr>
              <a:t> Improve answer if verification fails</a:t>
            </a:r>
            <a:endParaRPr/>
          </a:p>
          <a:p>
            <a:pPr indent="7620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diagram of a process flow&#10;&#10;AI-generated content may be incorrect." id="188" name="Google Shape;188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58" l="6663" r="4560" t="909"/>
          <a:stretch/>
        </p:blipFill>
        <p:spPr>
          <a:xfrm>
            <a:off x="5767578" y="440140"/>
            <a:ext cx="3138846" cy="428502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9"/>
          <p:cNvSpPr txBox="1"/>
          <p:nvPr/>
        </p:nvSpPr>
        <p:spPr>
          <a:xfrm>
            <a:off x="197275" y="4102900"/>
            <a:ext cx="27750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4063275" y="4102900"/>
            <a:ext cx="2339100" cy="7533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rgbClr val="F9CB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Innovation: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Post-generation verification with adaptive correction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0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0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0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0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0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0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1 &amp; 2 - Hybrid Retrieval + Reranking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3190375" y="1103075"/>
            <a:ext cx="2610600" cy="3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 sz="1400">
                <a:latin typeface="Times New Roman"/>
                <a:ea typeface="Times New Roman"/>
                <a:cs typeface="Times New Roman"/>
                <a:sym typeface="Times New Roman"/>
              </a:rPr>
              <a:t>Dense Retrieval (Semantic):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Model: sentence-transformers/all-mpnet-base-v2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Embedding dimension: 768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FAISS index for fast similarity search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Captures semantic meaning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GB" sz="1400">
                <a:latin typeface="Times New Roman"/>
                <a:ea typeface="Times New Roman"/>
                <a:cs typeface="Times New Roman"/>
                <a:sym typeface="Times New Roman"/>
              </a:rPr>
              <a:t>Sparse Retrieval (Lexical):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Method: BM25 (Rank-BM25)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Parameters: k1=1.5, b=0.75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Exact keyword matching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Handles rare/technical terms</a:t>
            </a:r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3491857" y="383541"/>
            <a:ext cx="49812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en-GB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Retrieval : Best of Best Worlds</a:t>
            </a:r>
            <a:endParaRPr sz="1100"/>
          </a:p>
        </p:txBody>
      </p:sp>
      <p:sp>
        <p:nvSpPr>
          <p:cNvPr id="204" name="Google Shape;204;p30"/>
          <p:cNvSpPr txBox="1"/>
          <p:nvPr/>
        </p:nvSpPr>
        <p:spPr>
          <a:xfrm>
            <a:off x="7070598" y="1623060"/>
            <a:ext cx="1461000" cy="31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6065623" y="1192350"/>
            <a:ext cx="2901600" cy="3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Fusion:  </a:t>
            </a: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Final_Score = 0.6 × Dense_Score + 0.4 × Sparse_Score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Cross-Encoder Reranking: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 cross-encoder/ms-marco-MiniLM-L-6-v2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Scores (query, passage) pairs for relevance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Top-k=5 → Top-t=2 final passages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Recall@20 = 0.9744  (Target: ≥0.95)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Stage 3 - Answer Generation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b="1" lang="en-GB" sz="1527">
                <a:latin typeface="Times New Roman"/>
                <a:ea typeface="Times New Roman"/>
                <a:cs typeface="Times New Roman"/>
                <a:sym typeface="Times New Roman"/>
              </a:rPr>
              <a:t>Generator: FLAN-T5-Large</a:t>
            </a:r>
            <a:endParaRPr sz="152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b="1" lang="en-GB" sz="1527">
                <a:latin typeface="Times New Roman"/>
                <a:ea typeface="Times New Roman"/>
                <a:cs typeface="Times New Roman"/>
                <a:sym typeface="Times New Roman"/>
              </a:rPr>
              <a:t>Model Details:</a:t>
            </a:r>
            <a:endParaRPr sz="152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Base: google/flan-t5-large (780M parameters)</a:t>
            </a:r>
            <a:endParaRPr sz="1527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Fine-tuning: QLoRA (4-bit quantization) </a:t>
            </a:r>
            <a:endParaRPr sz="1527"/>
          </a:p>
          <a:p>
            <a:pPr indent="0" lvl="1" marL="34290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95"/>
              <a:buNone/>
            </a:pPr>
            <a:r>
              <a:rPr lang="en-GB" sz="1295">
                <a:latin typeface="Times New Roman"/>
                <a:ea typeface="Times New Roman"/>
                <a:cs typeface="Times New Roman"/>
                <a:sym typeface="Times New Roman"/>
              </a:rPr>
              <a:t>LoRA rank r=16, α=32</a:t>
            </a:r>
            <a:endParaRPr sz="1295"/>
          </a:p>
          <a:p>
            <a:pPr indent="0" lvl="1" marL="34290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95"/>
              <a:buNone/>
            </a:pPr>
            <a:r>
              <a:rPr lang="en-GB" sz="1295">
                <a:latin typeface="Times New Roman"/>
                <a:ea typeface="Times New Roman"/>
                <a:cs typeface="Times New Roman"/>
                <a:sym typeface="Times New Roman"/>
              </a:rPr>
              <a:t>Dropout=0.1</a:t>
            </a:r>
            <a:endParaRPr sz="1295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Training data: SQuAD v2</a:t>
            </a:r>
            <a:endParaRPr sz="1527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b="1" lang="en-GB" sz="1527">
                <a:latin typeface="Times New Roman"/>
                <a:ea typeface="Times New Roman"/>
                <a:cs typeface="Times New Roman"/>
                <a:sym typeface="Times New Roman"/>
              </a:rPr>
              <a:t>Generation Prompt:</a:t>
            </a:r>
            <a:endParaRPr sz="152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Context: [top-2 retrieved passages]</a:t>
            </a:r>
            <a:endParaRPr sz="1527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Question: [user query]</a:t>
            </a:r>
            <a:endParaRPr sz="1527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28"/>
              <a:buNone/>
            </a:pPr>
            <a:r>
              <a:rPr lang="en-GB" sz="1527">
                <a:latin typeface="Times New Roman"/>
                <a:ea typeface="Times New Roman"/>
                <a:cs typeface="Times New Roman"/>
                <a:sym typeface="Times New Roman"/>
              </a:rPr>
              <a:t>Based strictly on the context above, provide a factual answer.</a:t>
            </a:r>
            <a:endParaRPr sz="1527"/>
          </a:p>
        </p:txBody>
      </p:sp>
      <p:sp>
        <p:nvSpPr>
          <p:cNvPr id="212" name="Google Shape;212;p3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If insufficient evidence, respond "Cannot answer based on context."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Answer: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Generation Settings: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Beam search (k=5)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Temperature: 0.7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Max length: 256 tokens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Why FLAN-T5?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Instruction-tuned for better instruction following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Good balance of quality and efficiency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Open-source and reproducible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89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2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2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2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2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2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2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4 - Claim Extraction &amp; Verification</a:t>
            </a:r>
            <a:br>
              <a:rPr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607694" y="487110"/>
            <a:ext cx="4964806" cy="4320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Claim Extraction: Breaking Down Answers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Method: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spaCy dependency parsing (en_core_web_sm)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Answer: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"UF was founded in 1853. UF colors are orange and blue."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Extracted Claims: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"UF was founded in 1853"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"UF colors are orange and blue"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Verification: Natural Language Inference (NLI)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Model: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microsoft/deberta-v3-large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why? 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Fine-tuned on NLI tasks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3-way classification: ENTAILMENT / CONTRADICTION / NEUTRAL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For each claim: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Check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if </a:t>
            </a: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ANY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retrieved passage entails the claim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Entailment score &gt; τ (threshold=0.75) → SUPPORTED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Otherwise → UNSUPPORTED (hallucination)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3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3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3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3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3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Metrics &amp; Decision Logic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3"/>
          <p:cNvSpPr txBox="1"/>
          <p:nvPr>
            <p:ph idx="1" type="body"/>
          </p:nvPr>
        </p:nvSpPr>
        <p:spPr>
          <a:xfrm>
            <a:off x="3626783" y="383541"/>
            <a:ext cx="4916510" cy="27799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Factual Precision: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Factual_Precision = Supported_Claims / Total_Claims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Measures: How many generated claims are factually correct?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Hallucination Rate: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Hallucination_Rate = 1 - Factual_Precision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Measures: Percentage of unsupported/fabricated claims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Verified F1: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Verified_F1 = F1_Score × Factual_Precision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Decision Logic :</a:t>
            </a:r>
            <a:endParaRPr/>
          </a:p>
        </p:txBody>
      </p:sp>
      <p:graphicFrame>
        <p:nvGraphicFramePr>
          <p:cNvPr id="239" name="Google Shape;239;p33"/>
          <p:cNvGraphicFramePr/>
          <p:nvPr/>
        </p:nvGraphicFramePr>
        <p:xfrm>
          <a:off x="3678791" y="3260297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{3DEF97B1-A88F-475C-899D-7408CD3B68C9}</a:tableStyleId>
              </a:tblPr>
              <a:tblGrid>
                <a:gridCol w="2069650"/>
                <a:gridCol w="2546450"/>
              </a:tblGrid>
              <a:tr h="368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Factual Precision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Action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>
                    <a:solidFill>
                      <a:schemeClr val="lt2"/>
                    </a:solidFill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≥ 0.85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ACCEPT - High confidence, return answer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0.60 - 0.85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REVISE - Moderate confidence, trigger revision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0.60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GB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REJECT/ABSTAIN - Low confidence, cannot answer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4"/>
          <p:cNvSpPr/>
          <p:nvPr/>
        </p:nvSpPr>
        <p:spPr>
          <a:xfrm flipH="1">
            <a:off x="-1" y="3949802"/>
            <a:ext cx="9143999" cy="1193057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4"/>
          <p:cNvSpPr/>
          <p:nvPr/>
        </p:nvSpPr>
        <p:spPr>
          <a:xfrm flipH="1">
            <a:off x="-1" y="3952631"/>
            <a:ext cx="9138998" cy="1193057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00000">
                <a:srgbClr val="0A3041"/>
              </a:gs>
            </a:gsLst>
            <a:lin ang="10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4"/>
          <p:cNvSpPr/>
          <p:nvPr/>
        </p:nvSpPr>
        <p:spPr>
          <a:xfrm flipH="1">
            <a:off x="6086474" y="3949160"/>
            <a:ext cx="3057524" cy="1193057"/>
          </a:xfrm>
          <a:prstGeom prst="rect">
            <a:avLst/>
          </a:prstGeom>
          <a:gradFill>
            <a:gsLst>
              <a:gs pos="0">
                <a:srgbClr val="0A3041"/>
              </a:gs>
              <a:gs pos="100000">
                <a:srgbClr val="156082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4"/>
          <p:cNvSpPr/>
          <p:nvPr/>
        </p:nvSpPr>
        <p:spPr>
          <a:xfrm rot="10800000">
            <a:off x="-10001" y="3947612"/>
            <a:ext cx="9144000" cy="11980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0A3041">
                  <a:alpha val="54901"/>
                </a:srgbClr>
              </a:gs>
              <a:gs pos="100000">
                <a:srgbClr val="0A3041">
                  <a:alpha val="54901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4"/>
          <p:cNvSpPr txBox="1"/>
          <p:nvPr>
            <p:ph type="title"/>
          </p:nvPr>
        </p:nvSpPr>
        <p:spPr>
          <a:xfrm>
            <a:off x="1028699" y="4132690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Stage 5 - Adaptive Revision Strategies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1455191" y="2874899"/>
            <a:ext cx="6537643" cy="839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Three Revision Strategies (Adaptive Selection)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Strategy Selection Based on Entailment Rate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1" name="Google Shape;251;p34"/>
          <p:cNvGraphicFramePr/>
          <p:nvPr/>
        </p:nvGraphicFramePr>
        <p:xfrm>
          <a:off x="1455192" y="6708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{3DEF97B1-A88F-475C-899D-7408CD3B68C9}</a:tableStyleId>
              </a:tblPr>
              <a:tblGrid>
                <a:gridCol w="1732700"/>
                <a:gridCol w="2469375"/>
                <a:gridCol w="2335525"/>
              </a:tblGrid>
              <a:tr h="27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GB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Entailment Rate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GB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Strategy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1" lang="en-GB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Rationale</a:t>
                      </a:r>
                      <a:endParaRPr b="1"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>
                    <a:solidFill>
                      <a:schemeClr val="lt2"/>
                    </a:solidFill>
                  </a:tcPr>
                </a:tc>
              </a:tr>
              <a:tr h="46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0.5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RE_RETRIEVAL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claims wrong → need better evidence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</a:tr>
              <a:tr h="46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0.5 - 0.8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CONSTRAINED_GENERATION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Mixed results → guide generator with verified facts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</a:tr>
              <a:tr h="46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≥ 0.8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CLAIM_BY_CLAIM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claims correct → fix only wrong ones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200" marL="63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Experimental Setup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5"/>
          <p:cNvSpPr txBox="1"/>
          <p:nvPr>
            <p:ph idx="1" type="body"/>
          </p:nvPr>
        </p:nvSpPr>
        <p:spPr>
          <a:xfrm>
            <a:off x="628650" y="1369225"/>
            <a:ext cx="2740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Dataset: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SQuAD v2.0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validation split</a:t>
            </a:r>
            <a:endParaRPr/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5000 queries for main evaluation</a:t>
            </a:r>
            <a:endParaRPr/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1000 queries for strategy comparison</a:t>
            </a:r>
            <a:endParaRPr/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Corpus: 132-507 Wikipedia passages (varies by sample)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Implementation: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9546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Framework: PyTorch, Transformers, FAISS</a:t>
            </a:r>
            <a:endParaRPr/>
          </a:p>
          <a:p>
            <a:pPr indent="-179546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Compute: HiPerGator (NVIDIA B200 GPU)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8" name="Google Shape;258;p35"/>
          <p:cNvGraphicFramePr/>
          <p:nvPr/>
        </p:nvGraphicFramePr>
        <p:xfrm>
          <a:off x="3531850" y="176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{675CAB05-87E2-4C6F-9B0D-5CD4AEA3BFA9}</a:tableStyleId>
              </a:tblPr>
              <a:tblGrid>
                <a:gridCol w="1120550"/>
                <a:gridCol w="2473375"/>
                <a:gridCol w="1815650"/>
              </a:tblGrid>
              <a:tr h="34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Retrieval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Recall@K, Coverage Index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Did we find the right documents?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Verification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Factual Precision, Factual Recall, Hallucination Rate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 claims supported by evidence?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Generation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F1, EM, BLEU-4, ROUGE-L, Abstention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the text quality good?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Composite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F1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it both accurate AND high-quality?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F48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9" name="Google Shape;259;p35"/>
          <p:cNvSpPr txBox="1"/>
          <p:nvPr/>
        </p:nvSpPr>
        <p:spPr>
          <a:xfrm>
            <a:off x="3468625" y="1311450"/>
            <a:ext cx="3000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6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6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6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6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6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6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6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- Baseline Performance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36"/>
          <p:cNvSpPr txBox="1"/>
          <p:nvPr>
            <p:ph idx="1" type="body"/>
          </p:nvPr>
        </p:nvSpPr>
        <p:spPr>
          <a:xfrm>
            <a:off x="3607694" y="383542"/>
            <a:ext cx="5245984" cy="2188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Experiment 1: Baseline RAG (No Verification)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Configuration: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Standard RAG: Retrieval → Generation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No verification, no revision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5000 queries</a:t>
            </a:r>
            <a:endParaRPr/>
          </a:p>
        </p:txBody>
      </p:sp>
      <p:graphicFrame>
        <p:nvGraphicFramePr>
          <p:cNvPr id="273" name="Google Shape;273;p36"/>
          <p:cNvGraphicFramePr/>
          <p:nvPr/>
        </p:nvGraphicFramePr>
        <p:xfrm>
          <a:off x="3605408" y="253406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{3DEF97B1-A88F-475C-899D-7408CD3B68C9}</a:tableStyleId>
              </a:tblPr>
              <a:tblGrid>
                <a:gridCol w="1682525"/>
                <a:gridCol w="1682525"/>
                <a:gridCol w="1388625"/>
              </a:tblGrid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</a:tr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Exact Match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0.2654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Factual Precision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0.9078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Good but not perfect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  <a:tr h="43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Hallucination Rate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9.22%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in 11 answers has errors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F1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0.3225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Recall@20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0.9744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Excellent retrieval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Answers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4539/5000(90.7%)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7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7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7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7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7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7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7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HALO-RAG Complete Pipeline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3605408" y="440141"/>
            <a:ext cx="5328440" cy="1953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Experiment 2: Complete HALO-RAG (With Verification + Revision)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Configuration: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Full pipeline with adaptive revision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Dynamic strategy selection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5000 queries</a:t>
            </a:r>
            <a:endParaRPr/>
          </a:p>
        </p:txBody>
      </p:sp>
      <p:graphicFrame>
        <p:nvGraphicFramePr>
          <p:cNvPr id="287" name="Google Shape;287;p37"/>
          <p:cNvGraphicFramePr/>
          <p:nvPr/>
        </p:nvGraphicFramePr>
        <p:xfrm>
          <a:off x="3268458" y="243459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{3DEF97B1-A88F-475C-899D-7408CD3B68C9}</a:tableStyleId>
              </a:tblPr>
              <a:tblGrid>
                <a:gridCol w="1538325"/>
                <a:gridCol w="1538325"/>
                <a:gridCol w="1596650"/>
                <a:gridCol w="942550"/>
              </a:tblGrid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 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HALO - RAG</a:t>
                      </a:r>
                      <a:endParaRPr sz="1100"/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Change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</a:tr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Exact Match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0.2654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0.2492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-6.1%</a:t>
                      </a:r>
                      <a:endParaRPr sz="1100"/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Factual Precision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0.9078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0.9608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+5.8%</a:t>
                      </a: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100"/>
                    </a:p>
                  </a:txBody>
                  <a:tcPr marT="0" marB="0" marR="51425" marL="51425" anchor="ctr"/>
                </a:tc>
              </a:tr>
              <a:tr h="43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Hallucination Rate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9.22%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0.00%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-100%</a:t>
                      </a: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100"/>
                    </a:p>
                  </a:txBody>
                  <a:tcPr marT="0" marB="0" marR="51425" marL="51425" anchor="ctr"/>
                </a:tc>
              </a:tr>
              <a:tr h="242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F1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0.3225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0.3415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+5.9%</a:t>
                      </a: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100"/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Recall@20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0.02%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3.92%</a:t>
                      </a:r>
                      <a:endParaRPr sz="1100"/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GB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+3.9%</a:t>
                      </a:r>
                      <a:endParaRPr sz="1100"/>
                    </a:p>
                  </a:txBody>
                  <a:tcPr marT="0" marB="0" marR="51425" marL="51425" anchor="ctr"/>
                </a:tc>
              </a:tr>
              <a:tr h="389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Answers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4539/5000(90.7%)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4804/5000(96.1%)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+5.4%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51425" marL="5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8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8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8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8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8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8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8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vs HALO-RAG Comparison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8"/>
          <p:cNvSpPr txBox="1"/>
          <p:nvPr>
            <p:ph idx="1" type="body"/>
          </p:nvPr>
        </p:nvSpPr>
        <p:spPr>
          <a:xfrm>
            <a:off x="3607694" y="440142"/>
            <a:ext cx="4944232" cy="4206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Key Findings: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Complete Hallucination Elimination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Baseline: 9.22% hallucination → HALO-RAG: 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0.00%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461 hallucinated answers caught and corrected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Improved Factuality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Factual Precision: 90.78% → 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96.08%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(+5.3 points)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Verified F1: 0.3225 → </a:t>
            </a: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0.3415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(+5.9% improvement)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Trade-offs: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Slight F1/EM decrease (-4.6%, -6.1%)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Small increase in abstention (3.92%)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Minimal computational overhead (0.09 avg iterations)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✔"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Why F1 decreased slightly?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More conservative generation</a:t>
            </a:r>
            <a:endParaRPr/>
          </a:p>
          <a:p>
            <a:pPr indent="-177482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Abstain when insufficient evidence (3.92% of cases)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Quality over quantity: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Better to abstain than hallucinate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Overall: Net positive - factuality gain &gt;&gt; quality loss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9"/>
          <p:cNvSpPr/>
          <p:nvPr/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9"/>
          <p:cNvSpPr/>
          <p:nvPr/>
        </p:nvSpPr>
        <p:spPr>
          <a:xfrm flipH="1" rot="10800000">
            <a:off x="6096643" y="0"/>
            <a:ext cx="3047357" cy="1182309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9"/>
          <p:cNvSpPr/>
          <p:nvPr/>
        </p:nvSpPr>
        <p:spPr>
          <a:xfrm rot="5400000">
            <a:off x="3980833" y="-3980833"/>
            <a:ext cx="1182335" cy="9144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9"/>
          <p:cNvSpPr txBox="1"/>
          <p:nvPr>
            <p:ph type="title"/>
          </p:nvPr>
        </p:nvSpPr>
        <p:spPr>
          <a:xfrm>
            <a:off x="1028698" y="261649"/>
            <a:ext cx="7533017" cy="658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Times New Roman"/>
              <a:buNone/>
            </a:pP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 3: </a:t>
            </a:r>
            <a:r>
              <a:rPr b="1" lang="en-GB" sz="3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Revision Strategy Comparison</a:t>
            </a:r>
            <a:endParaRPr sz="3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0" name="Google Shape;310;p39"/>
          <p:cNvGraphicFramePr/>
          <p:nvPr/>
        </p:nvGraphicFramePr>
        <p:xfrm>
          <a:off x="483042" y="20285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{675CAB05-87E2-4C6F-9B0D-5CD4AEA3BFA9}</a:tableStyleId>
              </a:tblPr>
              <a:tblGrid>
                <a:gridCol w="2293175"/>
                <a:gridCol w="1261275"/>
                <a:gridCol w="1779650"/>
                <a:gridCol w="1463625"/>
                <a:gridCol w="1398100"/>
              </a:tblGrid>
              <a:tr h="60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Strategy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Verified F1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Factual Precision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Hallucination Rate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Exact Match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 (No Revision)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0.3667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0.9787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2.13%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0.2950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RE_RETRIEVAL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0.3747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0.00%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0.3040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CONSTRAINED_GEN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0.3755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0.00%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0.2990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CLAIM_BY_CLAIM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0.3739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0.00%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0.3010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Dynamic (Adaptive)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0.3747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1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0.00%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imes New Roman"/>
                        <a:buNone/>
                      </a:pPr>
                      <a:r>
                        <a:rPr b="0" i="0" lang="en-GB" sz="1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0.3040</a:t>
                      </a:r>
                      <a:endParaRPr b="0" i="0" sz="2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275" marB="0" marR="88475" marL="884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0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0"/>
          <p:cNvSpPr/>
          <p:nvPr/>
        </p:nvSpPr>
        <p:spPr>
          <a:xfrm flipH="1" rot="5400000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0"/>
          <p:cNvSpPr/>
          <p:nvPr/>
        </p:nvSpPr>
        <p:spPr>
          <a:xfrm flipH="1" rot="5400000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0"/>
          <p:cNvSpPr/>
          <p:nvPr/>
        </p:nvSpPr>
        <p:spPr>
          <a:xfrm flipH="1" rot="5400000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0"/>
          <p:cNvSpPr/>
          <p:nvPr/>
        </p:nvSpPr>
        <p:spPr>
          <a:xfrm rot="-964587">
            <a:off x="-376303" y="727289"/>
            <a:ext cx="2925268" cy="313421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0"/>
          <p:cNvSpPr/>
          <p:nvPr/>
        </p:nvSpPr>
        <p:spPr>
          <a:xfrm flipH="1" rot="5400000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0"/>
          <p:cNvSpPr txBox="1"/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b="1" lang="en-GB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endParaRPr b="1"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b="1" lang="en-GB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Achievements &amp; Metrics</a:t>
            </a:r>
            <a:endParaRPr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40"/>
          <p:cNvSpPr txBox="1"/>
          <p:nvPr>
            <p:ph idx="1" type="body"/>
          </p:nvPr>
        </p:nvSpPr>
        <p:spPr>
          <a:xfrm>
            <a:off x="3607700" y="128825"/>
            <a:ext cx="5022000" cy="48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RQ1: Can we quantify hallucination probabilities with transparency?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- Achieved through: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Claim-level verification with explicit support/contradiction/insufficient evidence scores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Transparent abstention: 3.92% of answers appropriately refused when unverifiable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Real-time verification signals during generation (96.1% verified vs 3.92% abstained)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RQ2: Can we achieve zero hallucination without sacrificing quality?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 - Zero hallucination with quality improvement: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Hallucination: 9.22% → 0% (goal: ≤10%)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Verified F1: +5.9% improvement (0.3225 → 0.3415)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Factual Precision: +5.8% improvement (90.78% → 96.08%)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RQ3: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Which revision strategy is most effective?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All strategies achieve zero hallucination. CONSTRAINED_GENERATION</a:t>
            </a: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 for Verified F1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Limitations &amp; Future Work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41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Current Limitations: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1. Verified F1 Below Original Target (0.52)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Achieved 0.3415 vs target 0.52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2. Small Abstention Rate (3.92%)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3. Limited to Extractive QA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Tested on SQuAD v2 (short answer QA)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4. Single-domain Evaluation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Wikipedia corpus only, Generalization to other domains unclear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4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Future Work: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Larger Models: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Test with Llama-2, Mistral for better generation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Multi-hop QA: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Evaluate on HotpotQA for complex reasoning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Human Evaluation: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Validate automatic verification with annotators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Multi-domain Generalization: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Scientific papers, legal documents, medical texts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Real-time Systems: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Optimize for production deployment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GB" sz="1500">
                <a:latin typeface="Times New Roman"/>
                <a:ea typeface="Times New Roman"/>
                <a:cs typeface="Times New Roman"/>
                <a:sym typeface="Times New Roman"/>
              </a:rPr>
              <a:t>Explainable Verification:</a:t>
            </a:r>
            <a:r>
              <a:rPr lang="en-GB" sz="1500">
                <a:latin typeface="Times New Roman"/>
                <a:ea typeface="Times New Roman"/>
                <a:cs typeface="Times New Roman"/>
                <a:sym typeface="Times New Roman"/>
              </a:rPr>
              <a:t> Show users which claims are verified vs uncertain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0" y="0"/>
            <a:ext cx="9141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2"/>
          <p:cNvSpPr/>
          <p:nvPr/>
        </p:nvSpPr>
        <p:spPr>
          <a:xfrm flipH="1" rot="5400000">
            <a:off x="-1057624" y="1057500"/>
            <a:ext cx="5143500" cy="30285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12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2"/>
          <p:cNvSpPr/>
          <p:nvPr/>
        </p:nvSpPr>
        <p:spPr>
          <a:xfrm flipH="1" rot="5400000">
            <a:off x="-1057624" y="1065104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2"/>
          <p:cNvSpPr/>
          <p:nvPr/>
        </p:nvSpPr>
        <p:spPr>
          <a:xfrm flipH="1" rot="5400000">
            <a:off x="575875" y="2690996"/>
            <a:ext cx="1876500" cy="30285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2"/>
          <p:cNvSpPr/>
          <p:nvPr/>
        </p:nvSpPr>
        <p:spPr>
          <a:xfrm rot="-964601">
            <a:off x="-376648" y="727714"/>
            <a:ext cx="2922552" cy="3131309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2"/>
          <p:cNvSpPr/>
          <p:nvPr/>
        </p:nvSpPr>
        <p:spPr>
          <a:xfrm flipH="1" rot="5400000">
            <a:off x="-1057631" y="1049896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2"/>
          <p:cNvSpPr txBox="1"/>
          <p:nvPr>
            <p:ph type="title"/>
          </p:nvPr>
        </p:nvSpPr>
        <p:spPr>
          <a:xfrm>
            <a:off x="350042" y="440141"/>
            <a:ext cx="2400900" cy="254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Times New Roman"/>
              <a:buNone/>
            </a:pPr>
            <a:r>
              <a:rPr b="1" lang="en-GB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 Roles</a:t>
            </a:r>
            <a:endParaRPr/>
          </a:p>
        </p:txBody>
      </p:sp>
      <p:sp>
        <p:nvSpPr>
          <p:cNvPr id="343" name="Google Shape;343;p42"/>
          <p:cNvSpPr txBox="1"/>
          <p:nvPr>
            <p:ph idx="1" type="body"/>
          </p:nvPr>
        </p:nvSpPr>
        <p:spPr>
          <a:xfrm>
            <a:off x="3558150" y="259150"/>
            <a:ext cx="5172900" cy="43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Hemanth Balla: Pipeline Architecture &amp; Implementation</a:t>
            </a:r>
            <a:endParaRPr b="1" sz="1700"/>
          </a:p>
          <a:p>
            <a:pPr indent="-27749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Designed and built the end-to-end HALO-RAG pipeline (retrieval, generation, verification, revision).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749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Implemented abstention mechanisms.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Reshma Koshy: Verification &amp; Revision Strategies</a:t>
            </a:r>
            <a:endParaRPr b="1" sz="1700"/>
          </a:p>
          <a:p>
            <a:pPr indent="-2774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Developed claim extraction and verification modules.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Implemented five revision strategies (RE_RETRIEVAL, CONSTRAINED_GEN, CLAIM_BY_CLAIM, Dynamic, Baseline).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Anisa Shaik: Evaluation &amp; Metrics</a:t>
            </a:r>
            <a:endParaRPr b="1" sz="1700"/>
          </a:p>
          <a:p>
            <a:pPr indent="-27749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Designed evaluation framework with 14+ metrics (hallucination rate, Verified F1, factual precision)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749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Run experiments on 5,000 questions, perform statistical analysis, and generate results.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latin typeface="Times New Roman"/>
                <a:ea typeface="Times New Roman"/>
                <a:cs typeface="Times New Roman"/>
                <a:sym typeface="Times New Roman"/>
              </a:rPr>
              <a:t>Pranay Reddy: Dataset &amp; Documentation</a:t>
            </a:r>
            <a:endParaRPr b="1" sz="1700"/>
          </a:p>
          <a:p>
            <a:pPr indent="-27749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Preprocessed datasets (Squad_V2) and conducted baseline benchmarking.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705"/>
              <a:buChar char="●"/>
            </a:pPr>
            <a:r>
              <a:rPr lang="en-GB" sz="1700">
                <a:latin typeface="Times New Roman"/>
                <a:ea typeface="Times New Roman"/>
                <a:cs typeface="Times New Roman"/>
                <a:sym typeface="Times New Roman"/>
              </a:rPr>
              <a:t>Prepared final presentation and documentation.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3"/>
          <p:cNvSpPr/>
          <p:nvPr/>
        </p:nvSpPr>
        <p:spPr>
          <a:xfrm>
            <a:off x="0" y="0"/>
            <a:ext cx="9141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3"/>
          <p:cNvSpPr/>
          <p:nvPr/>
        </p:nvSpPr>
        <p:spPr>
          <a:xfrm flipH="1" rot="5400000">
            <a:off x="-1057624" y="1057500"/>
            <a:ext cx="5143500" cy="30285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12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3"/>
          <p:cNvSpPr/>
          <p:nvPr/>
        </p:nvSpPr>
        <p:spPr>
          <a:xfrm flipH="1" rot="5400000">
            <a:off x="-1057624" y="1065104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3"/>
          <p:cNvSpPr/>
          <p:nvPr/>
        </p:nvSpPr>
        <p:spPr>
          <a:xfrm flipH="1" rot="5400000">
            <a:off x="575875" y="2690996"/>
            <a:ext cx="1876500" cy="30285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3"/>
          <p:cNvSpPr/>
          <p:nvPr/>
        </p:nvSpPr>
        <p:spPr>
          <a:xfrm rot="-964601">
            <a:off x="-376648" y="727714"/>
            <a:ext cx="2922552" cy="3131309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3"/>
          <p:cNvSpPr/>
          <p:nvPr/>
        </p:nvSpPr>
        <p:spPr>
          <a:xfrm flipH="1" rot="5400000">
            <a:off x="-1057631" y="1049896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3"/>
          <p:cNvSpPr txBox="1"/>
          <p:nvPr>
            <p:ph type="title"/>
          </p:nvPr>
        </p:nvSpPr>
        <p:spPr>
          <a:xfrm>
            <a:off x="350042" y="440141"/>
            <a:ext cx="2400900" cy="254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Times New Roman"/>
              <a:buNone/>
            </a:pPr>
            <a:r>
              <a:rPr b="1" lang="en-GB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endParaRPr/>
          </a:p>
        </p:txBody>
      </p:sp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3577969" y="288910"/>
            <a:ext cx="4916400" cy="4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800">
                <a:latin typeface="Times New Roman"/>
                <a:ea typeface="Times New Roman"/>
                <a:cs typeface="Times New Roman"/>
                <a:sym typeface="Times New Roman"/>
              </a:rPr>
              <a:t>What happens in HALO-RAG when a generated answer fails verification?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177800" rtl="0" algn="l"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A. The system automatically outputs the answer anyway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177800" rtl="0" algn="l"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B. The system ignores the verification results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177800" rtl="0" algn="l"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C. The system triggers adaptive revision to regenerate a corrected answer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177800" rtl="0" algn="l"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D. The system retrieves fewer documents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4"/>
          <p:cNvSpPr/>
          <p:nvPr/>
        </p:nvSpPr>
        <p:spPr>
          <a:xfrm>
            <a:off x="0" y="0"/>
            <a:ext cx="9141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4"/>
          <p:cNvSpPr/>
          <p:nvPr/>
        </p:nvSpPr>
        <p:spPr>
          <a:xfrm flipH="1" rot="5400000">
            <a:off x="-1057624" y="1057500"/>
            <a:ext cx="5143500" cy="30285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12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4"/>
          <p:cNvSpPr/>
          <p:nvPr/>
        </p:nvSpPr>
        <p:spPr>
          <a:xfrm flipH="1" rot="5400000">
            <a:off x="-1057624" y="1065104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4"/>
          <p:cNvSpPr/>
          <p:nvPr/>
        </p:nvSpPr>
        <p:spPr>
          <a:xfrm flipH="1" rot="5400000">
            <a:off x="575875" y="2690996"/>
            <a:ext cx="1876500" cy="30285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799903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4"/>
          <p:cNvSpPr/>
          <p:nvPr/>
        </p:nvSpPr>
        <p:spPr>
          <a:xfrm rot="-964601">
            <a:off x="-376648" y="727714"/>
            <a:ext cx="2922552" cy="3131309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4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4"/>
          <p:cNvSpPr/>
          <p:nvPr/>
        </p:nvSpPr>
        <p:spPr>
          <a:xfrm flipH="1" rot="5400000">
            <a:off x="-1057631" y="1049896"/>
            <a:ext cx="5143500" cy="3028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17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4"/>
          <p:cNvSpPr txBox="1"/>
          <p:nvPr>
            <p:ph type="title"/>
          </p:nvPr>
        </p:nvSpPr>
        <p:spPr>
          <a:xfrm>
            <a:off x="350042" y="440141"/>
            <a:ext cx="2400900" cy="254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Times New Roman"/>
              <a:buNone/>
            </a:pPr>
            <a:r>
              <a:rPr b="1" lang="en-GB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607694" y="487110"/>
            <a:ext cx="4916400" cy="41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10000"/>
          </a:bodyPr>
          <a:lstStyle/>
          <a:p>
            <a:pPr indent="-181927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Lewis, P., et al. (2020). Retrieval-Augmented Generation for Knowledge-Intensive NLP Tasks. NeurIPS. 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Manakul, P., et al. (2023). SelfCheckGPT: Zero-Resource Black-Box Hallucination Detection for Generative Large Language Models. arXiv:2303.08896. 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Gao, Y., et al. (2023). Retrieval-Augmented Generation for Large Language Models: A Survey. arXiv:2312.10997.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Thorne, J., et al. (2018). FEVER: a Large-scale Dataset for Fact Extraction and VERification. NAACL. 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Rajpurkar, P., et al. (2018). Know What You Don't Know: Unanswerable Questions for SQuAD. ACL. </a:t>
            </a:r>
            <a:endParaRPr/>
          </a:p>
          <a:p>
            <a:pPr indent="-18192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Kwiatkowski, T., et al. (2019). Natural Questions: A Benchmark for Question Answering Research. TACL.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45"/>
          <p:cNvPicPr preferRelativeResize="0"/>
          <p:nvPr/>
        </p:nvPicPr>
        <p:blipFill rotWithShape="1">
          <a:blip r:embed="rId3">
            <a:alphaModFix/>
          </a:blip>
          <a:srcRect b="0" l="1661" r="0" t="0"/>
          <a:stretch/>
        </p:blipFill>
        <p:spPr>
          <a:xfrm>
            <a:off x="0" y="0"/>
            <a:ext cx="9144000" cy="499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