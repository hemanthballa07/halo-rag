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y="5143500" cx="9144000"/>
  <p:notesSz cx="6858000" cy="9144000"/>
  <p:embeddedFontLst>
    <p:embeddedFont>
      <p:font typeface="Play"/>
      <p:regular r:id="rId29"/>
      <p:bold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F354E13-5000-42DC-8ECC-7DAA22E1D1C1}">
  <a:tblStyle styleId="{0F354E13-5000-42DC-8ECC-7DAA22E1D1C1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4B8F1B9E-3746-4A46-B8E3-A1BFCDC618B7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Play-regular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0" Type="http://schemas.openxmlformats.org/officeDocument/2006/relationships/font" Target="fonts/Play-bold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a36f4f4348_2_7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a36f4f4348_2_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a36f4f4348_2_8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g3a36f4f4348_2_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a36f4f4348_2_9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g3a36f4f4348_2_9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a36fa96c01_0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g3a36fa96c01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a36f4f4348_2_1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g3a36f4f4348_2_1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a36f4f4348_2_1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g3a36f4f4348_2_1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a36f4f4348_2_1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g3a36f4f4348_2_1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a36f4f4348_2_15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g3a36f4f4348_2_1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a36f4f4348_2_16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g3a36f4f4348_2_1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a36f4f4348_2_18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g3a36f4f4348_2_18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a36fa96c01_0_28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g3a36fa96c01_0_28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a36f4f4348_2_19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g3a36f4f4348_2_19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a36f4f4348_2_2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g3a36f4f4348_2_2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a36f4f4348_2_2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g3a36f4f4348_2_2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a36f4f4348_2_2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g3a36f4f4348_2_2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a36f4f4348_2_2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g3a36f4f4348_2_2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a36f4f4348_2_28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g3a36f4f4348_2_28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a36fa96c01_0_25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g3a36fa96c01_0_2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a36fa96c01_0_16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g3a36fa96c01_0_1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a36fa96c01_0_29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g3a36fa96c01_0_29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a36fa96c01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3a36fa96c01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1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72" name="Google Shape;72;p1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1" name="Google Shape;81;p1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400"/>
              <a:buNone/>
              <a:defRPr sz="14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85" name="Google Shape;85;p1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6" name="Google Shape;86;p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1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0" name="Google Shape;90;p19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1" name="Google Shape;91;p19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3" name="Google Shape;93;p1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5" name="Google Shape;95;p1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p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9" name="Google Shape;99;p2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0" name="Google Shape;100;p2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9" name="Google Shape;109;p22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  <a:defRPr b="0" i="0" sz="33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github.com/hemanthballa07/HALO-RAG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25"/>
          <p:cNvSpPr txBox="1"/>
          <p:nvPr>
            <p:ph type="ctrTitle"/>
          </p:nvPr>
        </p:nvSpPr>
        <p:spPr>
          <a:xfrm>
            <a:off x="977500" y="1523809"/>
            <a:ext cx="6760800" cy="1581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Times New Roman"/>
              <a:buNone/>
            </a:pPr>
            <a:r>
              <a:rPr b="1" lang="en-GB" sz="3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Self-Verification Chains for Hallucination-Free RAG</a:t>
            </a:r>
            <a:endParaRPr b="1" sz="36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Times New Roman"/>
              <a:buNone/>
            </a:pPr>
            <a:r>
              <a:t/>
            </a:r>
            <a:endParaRPr b="1" sz="36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25000"/>
              <a:buFont typeface="Times New Roman"/>
              <a:buNone/>
            </a:pPr>
            <a:r>
              <a:rPr b="1" lang="en-GB" sz="16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https://github.com/hemanthballa07/HALO-RAG</a:t>
            </a:r>
            <a:endParaRPr b="1" sz="16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1" name="Google Shape;131;p25"/>
          <p:cNvSpPr/>
          <p:nvPr/>
        </p:nvSpPr>
        <p:spPr>
          <a:xfrm rot="10800000">
            <a:off x="-6" y="3280916"/>
            <a:ext cx="9144005" cy="1862583"/>
          </a:xfrm>
          <a:prstGeom prst="rect">
            <a:avLst/>
          </a:prstGeom>
          <a:gradFill>
            <a:gsLst>
              <a:gs pos="0">
                <a:srgbClr val="0F4861"/>
              </a:gs>
              <a:gs pos="100000">
                <a:srgbClr val="000000"/>
              </a:gs>
            </a:gsLst>
            <a:lin ang="156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25"/>
          <p:cNvSpPr/>
          <p:nvPr/>
        </p:nvSpPr>
        <p:spPr>
          <a:xfrm flipH="1" rot="10800000">
            <a:off x="6105491" y="3280916"/>
            <a:ext cx="3038508" cy="1862585"/>
          </a:xfrm>
          <a:prstGeom prst="rect">
            <a:avLst/>
          </a:prstGeom>
          <a:gradFill>
            <a:gsLst>
              <a:gs pos="0">
                <a:srgbClr val="156082">
                  <a:alpha val="20784"/>
                </a:srgbClr>
              </a:gs>
              <a:gs pos="4000">
                <a:srgbClr val="156082">
                  <a:alpha val="20784"/>
                </a:srgbClr>
              </a:gs>
              <a:gs pos="83000">
                <a:srgbClr val="0A3041">
                  <a:alpha val="60784"/>
                </a:srgbClr>
              </a:gs>
              <a:gs pos="100000">
                <a:srgbClr val="0A3041">
                  <a:alpha val="60784"/>
                </a:srgbClr>
              </a:gs>
            </a:gsLst>
            <a:lin ang="180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25"/>
          <p:cNvSpPr/>
          <p:nvPr/>
        </p:nvSpPr>
        <p:spPr>
          <a:xfrm rot="10800000">
            <a:off x="0" y="3284572"/>
            <a:ext cx="9143988" cy="1465446"/>
          </a:xfrm>
          <a:prstGeom prst="rect">
            <a:avLst/>
          </a:prstGeom>
          <a:gradFill>
            <a:gsLst>
              <a:gs pos="0">
                <a:srgbClr val="0A3041">
                  <a:alpha val="0"/>
                </a:srgbClr>
              </a:gs>
              <a:gs pos="32000">
                <a:srgbClr val="0A3041">
                  <a:alpha val="0"/>
                </a:srgbClr>
              </a:gs>
              <a:gs pos="100000">
                <a:srgbClr val="156082">
                  <a:alpha val="54901"/>
                </a:srgbClr>
              </a:gs>
            </a:gsLst>
            <a:lin ang="66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25"/>
          <p:cNvSpPr/>
          <p:nvPr/>
        </p:nvSpPr>
        <p:spPr>
          <a:xfrm>
            <a:off x="-6" y="3285695"/>
            <a:ext cx="9144000" cy="1514582"/>
          </a:xfrm>
          <a:prstGeom prst="rect">
            <a:avLst/>
          </a:prstGeom>
          <a:gradFill>
            <a:gsLst>
              <a:gs pos="0">
                <a:srgbClr val="0A3041">
                  <a:alpha val="0"/>
                </a:srgbClr>
              </a:gs>
              <a:gs pos="32000">
                <a:srgbClr val="0A3041">
                  <a:alpha val="0"/>
                </a:srgbClr>
              </a:gs>
              <a:gs pos="100000">
                <a:srgbClr val="000000">
                  <a:alpha val="44705"/>
                </a:srgbClr>
              </a:gs>
            </a:gsLst>
            <a:lin ang="78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25"/>
          <p:cNvSpPr txBox="1"/>
          <p:nvPr>
            <p:ph idx="1" type="subTitle"/>
          </p:nvPr>
        </p:nvSpPr>
        <p:spPr>
          <a:xfrm>
            <a:off x="277585" y="3669542"/>
            <a:ext cx="5778029" cy="8086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</a:pPr>
            <a:r>
              <a:rPr b="1" lang="en-GB" sz="21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CIS 6930: Special Topics in Large Language Models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</a:pPr>
            <a:r>
              <a:rPr b="1" lang="en-GB" sz="21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University of Florida</a:t>
            </a:r>
            <a:endParaRPr b="1" sz="21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6" name="Google Shape;136;p25"/>
          <p:cNvSpPr txBox="1"/>
          <p:nvPr/>
        </p:nvSpPr>
        <p:spPr>
          <a:xfrm>
            <a:off x="6199632" y="3400847"/>
            <a:ext cx="2729484" cy="140421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2500" lnSpcReduction="200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br>
              <a:rPr b="1" i="0" lang="en-GB" sz="9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0" lang="en-GB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Members:</a:t>
            </a:r>
            <a:endParaRPr b="0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b="0" i="0" lang="en-GB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Hemanth Balla (UFID: 64798116)</a:t>
            </a:r>
            <a:endParaRPr sz="1100"/>
          </a:p>
          <a:p>
            <a:pPr indent="0" lvl="0" marL="0" marR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b="0" i="0" lang="en-GB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Anisa Shaik (UFID: 49373585)</a:t>
            </a:r>
            <a:endParaRPr sz="1100"/>
          </a:p>
          <a:p>
            <a:pPr indent="0" lvl="0" marL="0" marR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b="0" i="0" lang="en-GB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Reshma Koshy (UFID: 52903493)</a:t>
            </a:r>
            <a:endParaRPr sz="1100"/>
          </a:p>
          <a:p>
            <a:pPr indent="0" lvl="0" marL="0" marR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b="0" i="0" lang="en-GB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Pranay Reddy Pullaiahgari (UFID: 62381134)</a:t>
            </a:r>
            <a:endParaRPr sz="1100"/>
          </a:p>
          <a:p>
            <a:pPr indent="0" lvl="0" marL="0" marR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1" i="0" sz="9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26"/>
          <p:cNvSpPr/>
          <p:nvPr/>
        </p:nvSpPr>
        <p:spPr>
          <a:xfrm>
            <a:off x="0" y="0"/>
            <a:ext cx="9141714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26"/>
          <p:cNvSpPr/>
          <p:nvPr/>
        </p:nvSpPr>
        <p:spPr>
          <a:xfrm flipH="1" rot="5400000">
            <a:off x="-1057563" y="1057561"/>
            <a:ext cx="5143500" cy="3028377"/>
          </a:xfrm>
          <a:prstGeom prst="rect">
            <a:avLst/>
          </a:prstGeom>
          <a:gradFill>
            <a:gsLst>
              <a:gs pos="0">
                <a:srgbClr val="000000"/>
              </a:gs>
              <a:gs pos="8000">
                <a:srgbClr val="000000"/>
              </a:gs>
              <a:gs pos="100000">
                <a:srgbClr val="0F4861"/>
              </a:gs>
            </a:gsLst>
            <a:lin ang="30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26"/>
          <p:cNvSpPr/>
          <p:nvPr/>
        </p:nvSpPr>
        <p:spPr>
          <a:xfrm flipH="1" rot="5400000">
            <a:off x="-1057564" y="1065164"/>
            <a:ext cx="51434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156082">
                  <a:alpha val="45882"/>
                </a:srgbClr>
              </a:gs>
              <a:gs pos="100000">
                <a:srgbClr val="156082">
                  <a:alpha val="45882"/>
                </a:srgbClr>
              </a:gs>
            </a:gsLst>
            <a:lin ang="18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26"/>
          <p:cNvSpPr/>
          <p:nvPr/>
        </p:nvSpPr>
        <p:spPr>
          <a:xfrm flipH="1" rot="5400000">
            <a:off x="575942" y="2691064"/>
            <a:ext cx="1876484" cy="3028381"/>
          </a:xfrm>
          <a:prstGeom prst="rect">
            <a:avLst/>
          </a:prstGeom>
          <a:gradFill>
            <a:gsLst>
              <a:gs pos="0">
                <a:srgbClr val="156082">
                  <a:alpha val="28627"/>
                </a:srgbClr>
              </a:gs>
              <a:gs pos="2000">
                <a:srgbClr val="156082">
                  <a:alpha val="28627"/>
                </a:srgbClr>
              </a:gs>
              <a:gs pos="100000">
                <a:srgbClr val="000000">
                  <a:alpha val="29803"/>
                </a:srgbClr>
              </a:gs>
            </a:gsLst>
            <a:lin ang="78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26"/>
          <p:cNvSpPr/>
          <p:nvPr/>
        </p:nvSpPr>
        <p:spPr>
          <a:xfrm rot="-964587">
            <a:off x="-376303" y="727289"/>
            <a:ext cx="2925268" cy="3134218"/>
          </a:xfrm>
          <a:custGeom>
            <a:rect b="b" l="l" r="r" t="t"/>
            <a:pathLst>
              <a:path extrusionOk="0" h="4178958" w="3900357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0">
                <a:srgbClr val="000000">
                  <a:alpha val="0"/>
                </a:srgbClr>
              </a:gs>
              <a:gs pos="29000">
                <a:srgbClr val="000000">
                  <a:alpha val="0"/>
                </a:srgbClr>
              </a:gs>
              <a:gs pos="100000">
                <a:srgbClr val="156082">
                  <a:alpha val="42745"/>
                </a:srgbClr>
              </a:gs>
            </a:gsLst>
            <a:lin ang="18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26"/>
          <p:cNvSpPr/>
          <p:nvPr/>
        </p:nvSpPr>
        <p:spPr>
          <a:xfrm flipH="1" rot="5400000">
            <a:off x="-1057570" y="1049957"/>
            <a:ext cx="5143502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43AFE2">
                  <a:alpha val="10980"/>
                </a:srgbClr>
              </a:gs>
              <a:gs pos="100000">
                <a:srgbClr val="43AFE2">
                  <a:alpha val="10980"/>
                </a:srgbClr>
              </a:gs>
            </a:gsLst>
            <a:lin ang="72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26"/>
          <p:cNvSpPr txBox="1"/>
          <p:nvPr>
            <p:ph type="title"/>
          </p:nvPr>
        </p:nvSpPr>
        <p:spPr>
          <a:xfrm>
            <a:off x="350041" y="440141"/>
            <a:ext cx="2401025" cy="254062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Times New Roman"/>
              <a:buNone/>
            </a:pPr>
            <a:r>
              <a:rPr b="1" lang="en-GB" sz="3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 &amp; Motivation</a:t>
            </a:r>
            <a:endParaRPr sz="30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26"/>
          <p:cNvSpPr txBox="1"/>
          <p:nvPr>
            <p:ph idx="1" type="body"/>
          </p:nvPr>
        </p:nvSpPr>
        <p:spPr>
          <a:xfrm>
            <a:off x="3607694" y="487110"/>
            <a:ext cx="4916510" cy="415953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85000"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GB" sz="1800">
                <a:latin typeface="Times New Roman"/>
                <a:ea typeface="Times New Roman"/>
                <a:cs typeface="Times New Roman"/>
                <a:sym typeface="Times New Roman"/>
              </a:rPr>
              <a:t>The Hallucination Problem in RAG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GB" sz="1800">
                <a:latin typeface="Times New Roman"/>
                <a:ea typeface="Times New Roman"/>
                <a:cs typeface="Times New Roman"/>
                <a:sym typeface="Times New Roman"/>
              </a:rPr>
              <a:t>What is RAG?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3355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Retrieval-Augmented Generation grounds LLM outputs in factual evidence</a:t>
            </a:r>
            <a:endParaRPr/>
          </a:p>
          <a:p>
            <a:pPr indent="-173355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Combines document retrieval with language generation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GB" sz="1800">
                <a:latin typeface="Times New Roman"/>
                <a:ea typeface="Times New Roman"/>
                <a:cs typeface="Times New Roman"/>
                <a:sym typeface="Times New Roman"/>
              </a:rPr>
              <a:t>The Critical Gap: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Despite using retrieved evidence, LLMs still hallucinate in </a:t>
            </a:r>
            <a:r>
              <a:rPr b="1" lang="en-GB" sz="1800">
                <a:latin typeface="Times New Roman"/>
                <a:ea typeface="Times New Roman"/>
                <a:cs typeface="Times New Roman"/>
                <a:sym typeface="Times New Roman"/>
              </a:rPr>
              <a:t>25-30%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 of responses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Standard RAG systems lack mechanisms to: </a:t>
            </a:r>
            <a:endParaRPr/>
          </a:p>
          <a:p>
            <a:pPr indent="-173355" lvl="1" marL="5207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Detect their own hallucinations</a:t>
            </a:r>
            <a:endParaRPr/>
          </a:p>
          <a:p>
            <a:pPr indent="-173355" lvl="1" marL="5207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Correct erroneous outputs</a:t>
            </a:r>
            <a:endParaRPr/>
          </a:p>
          <a:p>
            <a:pPr indent="-173355" lvl="1" marL="5207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Learn from errors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GB" sz="1800">
                <a:latin typeface="Times New Roman"/>
                <a:ea typeface="Times New Roman"/>
                <a:cs typeface="Times New Roman"/>
                <a:sym typeface="Times New Roman"/>
              </a:rPr>
              <a:t>Real-World Impact: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3355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Misinformation in customer support chatbots</a:t>
            </a:r>
            <a:endParaRPr/>
          </a:p>
          <a:p>
            <a:pPr indent="-173355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Incorrect medical/legal advice</a:t>
            </a:r>
            <a:endParaRPr/>
          </a:p>
          <a:p>
            <a:pPr indent="-173355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Loss of user trust in AI systems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27"/>
          <p:cNvSpPr/>
          <p:nvPr/>
        </p:nvSpPr>
        <p:spPr>
          <a:xfrm>
            <a:off x="0" y="0"/>
            <a:ext cx="9141714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27"/>
          <p:cNvSpPr/>
          <p:nvPr/>
        </p:nvSpPr>
        <p:spPr>
          <a:xfrm flipH="1" rot="5400000">
            <a:off x="-1057563" y="1057561"/>
            <a:ext cx="5143500" cy="3028377"/>
          </a:xfrm>
          <a:prstGeom prst="rect">
            <a:avLst/>
          </a:prstGeom>
          <a:gradFill>
            <a:gsLst>
              <a:gs pos="0">
                <a:srgbClr val="000000"/>
              </a:gs>
              <a:gs pos="8000">
                <a:srgbClr val="000000"/>
              </a:gs>
              <a:gs pos="100000">
                <a:srgbClr val="0F4861"/>
              </a:gs>
            </a:gsLst>
            <a:lin ang="30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27"/>
          <p:cNvSpPr/>
          <p:nvPr/>
        </p:nvSpPr>
        <p:spPr>
          <a:xfrm flipH="1" rot="5400000">
            <a:off x="-1057564" y="1065164"/>
            <a:ext cx="51434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156082">
                  <a:alpha val="45882"/>
                </a:srgbClr>
              </a:gs>
              <a:gs pos="100000">
                <a:srgbClr val="156082">
                  <a:alpha val="45882"/>
                </a:srgbClr>
              </a:gs>
            </a:gsLst>
            <a:lin ang="18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27"/>
          <p:cNvSpPr/>
          <p:nvPr/>
        </p:nvSpPr>
        <p:spPr>
          <a:xfrm flipH="1" rot="5400000">
            <a:off x="575942" y="2691064"/>
            <a:ext cx="1876484" cy="3028381"/>
          </a:xfrm>
          <a:prstGeom prst="rect">
            <a:avLst/>
          </a:prstGeom>
          <a:gradFill>
            <a:gsLst>
              <a:gs pos="0">
                <a:srgbClr val="156082">
                  <a:alpha val="28627"/>
                </a:srgbClr>
              </a:gs>
              <a:gs pos="2000">
                <a:srgbClr val="156082">
                  <a:alpha val="28627"/>
                </a:srgbClr>
              </a:gs>
              <a:gs pos="100000">
                <a:srgbClr val="000000">
                  <a:alpha val="29803"/>
                </a:srgbClr>
              </a:gs>
            </a:gsLst>
            <a:lin ang="78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27"/>
          <p:cNvSpPr/>
          <p:nvPr/>
        </p:nvSpPr>
        <p:spPr>
          <a:xfrm rot="-964587">
            <a:off x="-376303" y="727289"/>
            <a:ext cx="2925268" cy="3134218"/>
          </a:xfrm>
          <a:custGeom>
            <a:rect b="b" l="l" r="r" t="t"/>
            <a:pathLst>
              <a:path extrusionOk="0" h="4178958" w="3900357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0">
                <a:srgbClr val="000000">
                  <a:alpha val="0"/>
                </a:srgbClr>
              </a:gs>
              <a:gs pos="29000">
                <a:srgbClr val="000000">
                  <a:alpha val="0"/>
                </a:srgbClr>
              </a:gs>
              <a:gs pos="100000">
                <a:srgbClr val="156082">
                  <a:alpha val="42745"/>
                </a:srgbClr>
              </a:gs>
            </a:gsLst>
            <a:lin ang="18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27"/>
          <p:cNvSpPr/>
          <p:nvPr/>
        </p:nvSpPr>
        <p:spPr>
          <a:xfrm flipH="1" rot="5400000">
            <a:off x="-1057570" y="1049957"/>
            <a:ext cx="5143502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43AFE2">
                  <a:alpha val="10980"/>
                </a:srgbClr>
              </a:gs>
              <a:gs pos="100000">
                <a:srgbClr val="43AFE2">
                  <a:alpha val="10980"/>
                </a:srgbClr>
              </a:gs>
            </a:gsLst>
            <a:lin ang="72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27"/>
          <p:cNvSpPr txBox="1"/>
          <p:nvPr>
            <p:ph type="title"/>
          </p:nvPr>
        </p:nvSpPr>
        <p:spPr>
          <a:xfrm>
            <a:off x="350041" y="440141"/>
            <a:ext cx="2401025" cy="254062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Times New Roman"/>
              <a:buNone/>
            </a:pPr>
            <a:r>
              <a:rPr b="1" lang="en-GB" sz="26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are Hallucinations?</a:t>
            </a:r>
            <a:br>
              <a:rPr lang="en-GB" sz="26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6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2" name="Google Shape;162;p27"/>
          <p:cNvSpPr txBox="1"/>
          <p:nvPr>
            <p:ph idx="1" type="body"/>
          </p:nvPr>
        </p:nvSpPr>
        <p:spPr>
          <a:xfrm>
            <a:off x="3607694" y="487110"/>
            <a:ext cx="4916400" cy="415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Generated content that is </a:t>
            </a:r>
            <a:r>
              <a:rPr b="1" lang="en-GB" sz="1500">
                <a:latin typeface="Times New Roman"/>
                <a:ea typeface="Times New Roman"/>
                <a:cs typeface="Times New Roman"/>
                <a:sym typeface="Times New Roman"/>
              </a:rPr>
              <a:t>not supported</a:t>
            </a: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 by the retrieved evidence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b="1" lang="en-GB" sz="1500">
                <a:latin typeface="Times New Roman"/>
                <a:ea typeface="Times New Roman"/>
                <a:cs typeface="Times New Roman"/>
                <a:sym typeface="Times New Roman"/>
              </a:rPr>
              <a:t>Examples: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b="1" lang="en-GB" sz="1500">
                <a:latin typeface="Times New Roman"/>
                <a:ea typeface="Times New Roman"/>
                <a:cs typeface="Times New Roman"/>
                <a:sym typeface="Times New Roman"/>
              </a:rPr>
              <a:t>Query:</a:t>
            </a: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 "When was the University of Florida founded?"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b="1" lang="en-GB" sz="1500">
                <a:latin typeface="Times New Roman"/>
                <a:ea typeface="Times New Roman"/>
                <a:cs typeface="Times New Roman"/>
                <a:sym typeface="Times New Roman"/>
              </a:rPr>
              <a:t>Retrieved Context:</a:t>
            </a: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 "The University of Florida was established in 1853..."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b="1" lang="en-GB" sz="1500">
                <a:latin typeface="Times New Roman"/>
                <a:ea typeface="Times New Roman"/>
                <a:cs typeface="Times New Roman"/>
                <a:sym typeface="Times New Roman"/>
              </a:rPr>
              <a:t>Hallucinated Answer:</a:t>
            </a: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 "The University of Florida was founded in </a:t>
            </a:r>
            <a:r>
              <a:rPr b="1" lang="en-GB" sz="1500">
                <a:latin typeface="Times New Roman"/>
                <a:ea typeface="Times New Roman"/>
                <a:cs typeface="Times New Roman"/>
                <a:sym typeface="Times New Roman"/>
              </a:rPr>
              <a:t>1900</a:t>
            </a: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."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b="1" lang="en-GB" sz="1500">
                <a:latin typeface="Times New Roman"/>
                <a:ea typeface="Times New Roman"/>
                <a:cs typeface="Times New Roman"/>
                <a:sym typeface="Times New Roman"/>
              </a:rPr>
              <a:t>Correct Answer:</a:t>
            </a: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 "The University of Florida was founded in </a:t>
            </a:r>
            <a:r>
              <a:rPr b="1" lang="en-GB" sz="1500">
                <a:latin typeface="Times New Roman"/>
                <a:ea typeface="Times New Roman"/>
                <a:cs typeface="Times New Roman"/>
                <a:sym typeface="Times New Roman"/>
              </a:rPr>
              <a:t>1853</a:t>
            </a: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."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b="1" lang="en-GB" sz="1500">
                <a:latin typeface="Times New Roman"/>
                <a:ea typeface="Times New Roman"/>
                <a:cs typeface="Times New Roman"/>
                <a:sym typeface="Times New Roman"/>
              </a:rPr>
              <a:t>Types of Hallucinations: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b="1" lang="en-GB" sz="1500">
                <a:latin typeface="Times New Roman"/>
                <a:ea typeface="Times New Roman"/>
                <a:cs typeface="Times New Roman"/>
                <a:sym typeface="Times New Roman"/>
              </a:rPr>
              <a:t>Fabrication:</a:t>
            </a: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 Inventing facts not in context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b="1" lang="en-GB" sz="1500">
                <a:latin typeface="Times New Roman"/>
                <a:ea typeface="Times New Roman"/>
                <a:cs typeface="Times New Roman"/>
                <a:sym typeface="Times New Roman"/>
              </a:rPr>
              <a:t>Extrapolation:</a:t>
            </a: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 Making unsupported inferences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b="1" lang="en-GB" sz="1500">
                <a:latin typeface="Times New Roman"/>
                <a:ea typeface="Times New Roman"/>
                <a:cs typeface="Times New Roman"/>
                <a:sym typeface="Times New Roman"/>
              </a:rPr>
              <a:t>Misattribution:</a:t>
            </a: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 Mixing facts from different sources incorrectly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t/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t/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28"/>
          <p:cNvSpPr/>
          <p:nvPr/>
        </p:nvSpPr>
        <p:spPr>
          <a:xfrm>
            <a:off x="0" y="0"/>
            <a:ext cx="91416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28"/>
          <p:cNvSpPr/>
          <p:nvPr/>
        </p:nvSpPr>
        <p:spPr>
          <a:xfrm flipH="1" rot="5400000">
            <a:off x="-1057624" y="1057500"/>
            <a:ext cx="5143500" cy="3028500"/>
          </a:xfrm>
          <a:prstGeom prst="rect">
            <a:avLst/>
          </a:prstGeom>
          <a:gradFill>
            <a:gsLst>
              <a:gs pos="0">
                <a:srgbClr val="000000"/>
              </a:gs>
              <a:gs pos="8000">
                <a:srgbClr val="000000"/>
              </a:gs>
              <a:gs pos="100000">
                <a:srgbClr val="0F4861"/>
              </a:gs>
            </a:gsLst>
            <a:lin ang="3000122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28"/>
          <p:cNvSpPr/>
          <p:nvPr/>
        </p:nvSpPr>
        <p:spPr>
          <a:xfrm flipH="1" rot="5400000">
            <a:off x="-1057624" y="1065104"/>
            <a:ext cx="5143500" cy="30285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156082">
                  <a:alpha val="45882"/>
                </a:srgbClr>
              </a:gs>
              <a:gs pos="100000">
                <a:srgbClr val="156082">
                  <a:alpha val="45882"/>
                </a:srgbClr>
              </a:gs>
            </a:gsLst>
            <a:lin ang="1800004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28"/>
          <p:cNvSpPr/>
          <p:nvPr/>
        </p:nvSpPr>
        <p:spPr>
          <a:xfrm flipH="1" rot="5400000">
            <a:off x="575875" y="2690996"/>
            <a:ext cx="1876500" cy="3028500"/>
          </a:xfrm>
          <a:prstGeom prst="rect">
            <a:avLst/>
          </a:prstGeom>
          <a:gradFill>
            <a:gsLst>
              <a:gs pos="0">
                <a:srgbClr val="156082">
                  <a:alpha val="28627"/>
                </a:srgbClr>
              </a:gs>
              <a:gs pos="2000">
                <a:srgbClr val="156082">
                  <a:alpha val="28627"/>
                </a:srgbClr>
              </a:gs>
              <a:gs pos="100000">
                <a:srgbClr val="000000">
                  <a:alpha val="29803"/>
                </a:srgbClr>
              </a:gs>
            </a:gsLst>
            <a:lin ang="7799903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28"/>
          <p:cNvSpPr/>
          <p:nvPr/>
        </p:nvSpPr>
        <p:spPr>
          <a:xfrm rot="-964601">
            <a:off x="-376648" y="727714"/>
            <a:ext cx="2922552" cy="3131309"/>
          </a:xfrm>
          <a:custGeom>
            <a:rect b="b" l="l" r="r" t="t"/>
            <a:pathLst>
              <a:path extrusionOk="0" h="4178958" w="3900357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0">
                <a:srgbClr val="000000">
                  <a:alpha val="0"/>
                </a:srgbClr>
              </a:gs>
              <a:gs pos="29000">
                <a:srgbClr val="000000">
                  <a:alpha val="0"/>
                </a:srgbClr>
              </a:gs>
              <a:gs pos="100000">
                <a:srgbClr val="156082">
                  <a:alpha val="42745"/>
                </a:srgbClr>
              </a:gs>
            </a:gsLst>
            <a:lin ang="1800004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28"/>
          <p:cNvSpPr/>
          <p:nvPr/>
        </p:nvSpPr>
        <p:spPr>
          <a:xfrm flipH="1" rot="5400000">
            <a:off x="-1057631" y="1049896"/>
            <a:ext cx="5143500" cy="30285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43AFE2">
                  <a:alpha val="10980"/>
                </a:srgbClr>
              </a:gs>
              <a:gs pos="100000">
                <a:srgbClr val="43AFE2">
                  <a:alpha val="10980"/>
                </a:srgbClr>
              </a:gs>
            </a:gsLst>
            <a:lin ang="7200017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28"/>
          <p:cNvSpPr txBox="1"/>
          <p:nvPr>
            <p:ph type="title"/>
          </p:nvPr>
        </p:nvSpPr>
        <p:spPr>
          <a:xfrm>
            <a:off x="350042" y="440141"/>
            <a:ext cx="2400900" cy="254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Times New Roman"/>
              <a:buNone/>
            </a:pPr>
            <a:r>
              <a:rPr b="1" lang="en-GB" sz="3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Questions &amp; Objectives</a:t>
            </a:r>
            <a:br>
              <a:rPr lang="en-GB" sz="3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30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5" name="Google Shape;175;p28"/>
          <p:cNvSpPr txBox="1"/>
          <p:nvPr>
            <p:ph idx="1" type="body"/>
          </p:nvPr>
        </p:nvSpPr>
        <p:spPr>
          <a:xfrm>
            <a:off x="3607694" y="487110"/>
            <a:ext cx="4916400" cy="415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b="1" lang="en-GB" sz="1500">
                <a:latin typeface="Times New Roman"/>
                <a:ea typeface="Times New Roman"/>
                <a:cs typeface="Times New Roman"/>
                <a:sym typeface="Times New Roman"/>
              </a:rPr>
              <a:t>Primary Research Questions: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b="1" lang="en-GB" sz="1500">
                <a:latin typeface="Times New Roman"/>
                <a:ea typeface="Times New Roman"/>
                <a:cs typeface="Times New Roman"/>
                <a:sym typeface="Times New Roman"/>
              </a:rPr>
              <a:t>RQ1:</a:t>
            </a: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 Can we quantify hallucination probabilities so that the system can state, with transparency, when an answer is or isn’t hallucinated?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b="1" lang="en-GB" sz="1500">
                <a:latin typeface="Times New Roman"/>
                <a:ea typeface="Times New Roman"/>
                <a:cs typeface="Times New Roman"/>
                <a:sym typeface="Times New Roman"/>
              </a:rPr>
              <a:t>RQ2:</a:t>
            </a: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 Can we achie</a:t>
            </a: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ve(near) zero hallucination without sacrificing answer quality?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b="1" lang="en-GB" sz="1500">
                <a:latin typeface="Times New Roman"/>
                <a:ea typeface="Times New Roman"/>
                <a:cs typeface="Times New Roman"/>
                <a:sym typeface="Times New Roman"/>
              </a:rPr>
              <a:t>Project Objectives: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14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Build end-to-end self-verifying RAG pipeline</a:t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Achieve Hallucination Rate ≤ 0.10 (target)</a:t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Demonstrate measurable improvement in Verified F1</a:t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Compare revision strategies quantitatively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9"/>
          <p:cNvSpPr/>
          <p:nvPr/>
        </p:nvSpPr>
        <p:spPr>
          <a:xfrm>
            <a:off x="0" y="0"/>
            <a:ext cx="9141714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635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9"/>
          <p:cNvSpPr/>
          <p:nvPr/>
        </p:nvSpPr>
        <p:spPr>
          <a:xfrm flipH="1" rot="5400000">
            <a:off x="-1057563" y="1057561"/>
            <a:ext cx="5143500" cy="3028377"/>
          </a:xfrm>
          <a:prstGeom prst="rect">
            <a:avLst/>
          </a:prstGeom>
          <a:gradFill>
            <a:gsLst>
              <a:gs pos="0">
                <a:srgbClr val="000000"/>
              </a:gs>
              <a:gs pos="8000">
                <a:srgbClr val="000000"/>
              </a:gs>
              <a:gs pos="100000">
                <a:srgbClr val="0F4861"/>
              </a:gs>
            </a:gsLst>
            <a:lin ang="30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9"/>
          <p:cNvSpPr/>
          <p:nvPr/>
        </p:nvSpPr>
        <p:spPr>
          <a:xfrm flipH="1" rot="5400000">
            <a:off x="-1057564" y="1065164"/>
            <a:ext cx="51434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156082">
                  <a:alpha val="45882"/>
                </a:srgbClr>
              </a:gs>
              <a:gs pos="100000">
                <a:srgbClr val="156082">
                  <a:alpha val="45882"/>
                </a:srgbClr>
              </a:gs>
            </a:gsLst>
            <a:lin ang="18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9"/>
          <p:cNvSpPr/>
          <p:nvPr/>
        </p:nvSpPr>
        <p:spPr>
          <a:xfrm flipH="1" rot="5400000">
            <a:off x="575942" y="2691064"/>
            <a:ext cx="1876484" cy="3028381"/>
          </a:xfrm>
          <a:prstGeom prst="rect">
            <a:avLst/>
          </a:prstGeom>
          <a:gradFill>
            <a:gsLst>
              <a:gs pos="0">
                <a:srgbClr val="156082">
                  <a:alpha val="28627"/>
                </a:srgbClr>
              </a:gs>
              <a:gs pos="2000">
                <a:srgbClr val="156082">
                  <a:alpha val="28627"/>
                </a:srgbClr>
              </a:gs>
              <a:gs pos="100000">
                <a:srgbClr val="000000">
                  <a:alpha val="29803"/>
                </a:srgbClr>
              </a:gs>
            </a:gsLst>
            <a:lin ang="78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9"/>
          <p:cNvSpPr/>
          <p:nvPr/>
        </p:nvSpPr>
        <p:spPr>
          <a:xfrm rot="-964587">
            <a:off x="-376303" y="727289"/>
            <a:ext cx="2925268" cy="3134218"/>
          </a:xfrm>
          <a:custGeom>
            <a:rect b="b" l="l" r="r" t="t"/>
            <a:pathLst>
              <a:path extrusionOk="0" h="4178958" w="3900357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0">
                <a:srgbClr val="000000">
                  <a:alpha val="0"/>
                </a:srgbClr>
              </a:gs>
              <a:gs pos="29000">
                <a:srgbClr val="000000">
                  <a:alpha val="0"/>
                </a:srgbClr>
              </a:gs>
              <a:gs pos="100000">
                <a:srgbClr val="156082">
                  <a:alpha val="42745"/>
                </a:srgbClr>
              </a:gs>
            </a:gsLst>
            <a:lin ang="18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9"/>
          <p:cNvSpPr/>
          <p:nvPr/>
        </p:nvSpPr>
        <p:spPr>
          <a:xfrm flipH="1" rot="5400000">
            <a:off x="-1057570" y="1049957"/>
            <a:ext cx="5143502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43AFE2">
                  <a:alpha val="10980"/>
                </a:srgbClr>
              </a:gs>
              <a:gs pos="100000">
                <a:srgbClr val="43AFE2">
                  <a:alpha val="10980"/>
                </a:srgbClr>
              </a:gs>
            </a:gsLst>
            <a:lin ang="72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29"/>
          <p:cNvSpPr txBox="1"/>
          <p:nvPr>
            <p:ph type="title"/>
          </p:nvPr>
        </p:nvSpPr>
        <p:spPr>
          <a:xfrm>
            <a:off x="384325" y="287400"/>
            <a:ext cx="2400900" cy="3501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Times New Roman"/>
              <a:buNone/>
            </a:pPr>
            <a:r>
              <a:rPr b="1" lang="en-GB" sz="26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Architecture:</a:t>
            </a:r>
            <a:endParaRPr b="1" sz="26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Times New Roman"/>
              <a:buNone/>
            </a:pPr>
            <a:r>
              <a:t/>
            </a:r>
            <a:endParaRPr b="1" sz="26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Times New Roman"/>
              <a:buNone/>
            </a:pPr>
            <a:r>
              <a:rPr b="1" lang="en-GB" sz="26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HALO-RAG: Hallucination-Aware Learning &amp; Optimization for RAG</a:t>
            </a:r>
            <a:br>
              <a:rPr lang="en-GB" sz="26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6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7" name="Google Shape;187;p29"/>
          <p:cNvSpPr txBox="1"/>
          <p:nvPr>
            <p:ph idx="1" type="body"/>
          </p:nvPr>
        </p:nvSpPr>
        <p:spPr>
          <a:xfrm>
            <a:off x="3347120" y="45760"/>
            <a:ext cx="2268900" cy="415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lnSpcReduction="10000"/>
          </a:bodyPr>
          <a:lstStyle/>
          <a:p>
            <a:pPr indent="7620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t/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35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b="1" lang="en-GB" sz="1300">
                <a:latin typeface="Times New Roman"/>
                <a:ea typeface="Times New Roman"/>
                <a:cs typeface="Times New Roman"/>
                <a:sym typeface="Times New Roman"/>
              </a:rPr>
              <a:t>Hybrid Retrieval:</a:t>
            </a:r>
            <a:r>
              <a:rPr lang="en-GB" sz="1300">
                <a:latin typeface="Times New Roman"/>
                <a:ea typeface="Times New Roman"/>
                <a:cs typeface="Times New Roman"/>
                <a:sym typeface="Times New Roman"/>
              </a:rPr>
              <a:t> Dense (FAISS) + Sparse (BM25) fusion</a:t>
            </a:r>
            <a:endParaRPr/>
          </a:p>
          <a:p>
            <a:pPr indent="-635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b="1" lang="en-GB" sz="1300">
                <a:latin typeface="Times New Roman"/>
                <a:ea typeface="Times New Roman"/>
                <a:cs typeface="Times New Roman"/>
                <a:sym typeface="Times New Roman"/>
              </a:rPr>
              <a:t>Cross-Encoder Reranking:</a:t>
            </a:r>
            <a:r>
              <a:rPr lang="en-GB" sz="1300">
                <a:latin typeface="Times New Roman"/>
                <a:ea typeface="Times New Roman"/>
                <a:cs typeface="Times New Roman"/>
                <a:sym typeface="Times New Roman"/>
              </a:rPr>
              <a:t> Select most relevant passages</a:t>
            </a:r>
            <a:endParaRPr/>
          </a:p>
          <a:p>
            <a:pPr indent="-635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b="1" lang="en-GB" sz="1300">
                <a:latin typeface="Times New Roman"/>
                <a:ea typeface="Times New Roman"/>
                <a:cs typeface="Times New Roman"/>
                <a:sym typeface="Times New Roman"/>
              </a:rPr>
              <a:t>Answer Generation:</a:t>
            </a:r>
            <a:r>
              <a:rPr lang="en-GB" sz="1300">
                <a:latin typeface="Times New Roman"/>
                <a:ea typeface="Times New Roman"/>
                <a:cs typeface="Times New Roman"/>
                <a:sym typeface="Times New Roman"/>
              </a:rPr>
              <a:t> FLAN-T5-Large produces candidate answer</a:t>
            </a:r>
            <a:endParaRPr/>
          </a:p>
          <a:p>
            <a:pPr indent="-635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b="1" lang="en-GB" sz="1300">
                <a:latin typeface="Times New Roman"/>
                <a:ea typeface="Times New Roman"/>
                <a:cs typeface="Times New Roman"/>
                <a:sym typeface="Times New Roman"/>
              </a:rPr>
              <a:t>Claim Extraction:</a:t>
            </a:r>
            <a:r>
              <a:rPr lang="en-GB" sz="1300">
                <a:latin typeface="Times New Roman"/>
                <a:ea typeface="Times New Roman"/>
                <a:cs typeface="Times New Roman"/>
                <a:sym typeface="Times New Roman"/>
              </a:rPr>
              <a:t> Parse answer into atomic factual claims</a:t>
            </a:r>
            <a:endParaRPr/>
          </a:p>
          <a:p>
            <a:pPr indent="-635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b="1" lang="en-GB" sz="1300">
                <a:latin typeface="Times New Roman"/>
                <a:ea typeface="Times New Roman"/>
                <a:cs typeface="Times New Roman"/>
                <a:sym typeface="Times New Roman"/>
              </a:rPr>
              <a:t>Verification:</a:t>
            </a:r>
            <a:r>
              <a:rPr lang="en-GB" sz="1300">
                <a:latin typeface="Times New Roman"/>
                <a:ea typeface="Times New Roman"/>
                <a:cs typeface="Times New Roman"/>
                <a:sym typeface="Times New Roman"/>
              </a:rPr>
              <a:t> NLI model checks each claim against evidence</a:t>
            </a:r>
            <a:endParaRPr/>
          </a:p>
          <a:p>
            <a:pPr indent="-635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b="1" lang="en-GB" sz="1300">
                <a:latin typeface="Times New Roman"/>
                <a:ea typeface="Times New Roman"/>
                <a:cs typeface="Times New Roman"/>
                <a:sym typeface="Times New Roman"/>
              </a:rPr>
              <a:t>Adaptive Revision:</a:t>
            </a:r>
            <a:r>
              <a:rPr lang="en-GB" sz="1300">
                <a:latin typeface="Times New Roman"/>
                <a:ea typeface="Times New Roman"/>
                <a:cs typeface="Times New Roman"/>
                <a:sym typeface="Times New Roman"/>
              </a:rPr>
              <a:t> Improve answer if verification fails</a:t>
            </a:r>
            <a:endParaRPr/>
          </a:p>
          <a:p>
            <a:pPr indent="7620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t/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A diagram of a process flow&#10;&#10;AI-generated content may be incorrect." id="188" name="Google Shape;188;p29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2358" l="6663" r="4560" t="909"/>
          <a:stretch/>
        </p:blipFill>
        <p:spPr>
          <a:xfrm>
            <a:off x="5767578" y="440140"/>
            <a:ext cx="3138846" cy="4285022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9"/>
          <p:cNvSpPr txBox="1"/>
          <p:nvPr/>
        </p:nvSpPr>
        <p:spPr>
          <a:xfrm>
            <a:off x="197275" y="4102900"/>
            <a:ext cx="2775000" cy="3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</p:txBody>
      </p:sp>
      <p:sp>
        <p:nvSpPr>
          <p:cNvPr id="190" name="Google Shape;190;p29"/>
          <p:cNvSpPr/>
          <p:nvPr/>
        </p:nvSpPr>
        <p:spPr>
          <a:xfrm>
            <a:off x="4063275" y="4102900"/>
            <a:ext cx="2339100" cy="753300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solidFill>
            <a:srgbClr val="F9CB9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Innovation:</a:t>
            </a:r>
            <a:r>
              <a:rPr lang="en-GB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Post-generation verification with adaptive correction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0"/>
          <p:cNvSpPr/>
          <p:nvPr/>
        </p:nvSpPr>
        <p:spPr>
          <a:xfrm>
            <a:off x="0" y="0"/>
            <a:ext cx="9141714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30"/>
          <p:cNvSpPr/>
          <p:nvPr/>
        </p:nvSpPr>
        <p:spPr>
          <a:xfrm flipH="1" rot="5400000">
            <a:off x="-1057563" y="1057561"/>
            <a:ext cx="5143500" cy="3028377"/>
          </a:xfrm>
          <a:prstGeom prst="rect">
            <a:avLst/>
          </a:prstGeom>
          <a:gradFill>
            <a:gsLst>
              <a:gs pos="0">
                <a:srgbClr val="000000"/>
              </a:gs>
              <a:gs pos="8000">
                <a:srgbClr val="000000"/>
              </a:gs>
              <a:gs pos="100000">
                <a:srgbClr val="0F4861"/>
              </a:gs>
            </a:gsLst>
            <a:lin ang="30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30"/>
          <p:cNvSpPr/>
          <p:nvPr/>
        </p:nvSpPr>
        <p:spPr>
          <a:xfrm flipH="1" rot="5400000">
            <a:off x="-1057564" y="1065164"/>
            <a:ext cx="51434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156082">
                  <a:alpha val="45882"/>
                </a:srgbClr>
              </a:gs>
              <a:gs pos="100000">
                <a:srgbClr val="156082">
                  <a:alpha val="45882"/>
                </a:srgbClr>
              </a:gs>
            </a:gsLst>
            <a:lin ang="18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30"/>
          <p:cNvSpPr/>
          <p:nvPr/>
        </p:nvSpPr>
        <p:spPr>
          <a:xfrm flipH="1" rot="5400000">
            <a:off x="575942" y="2691064"/>
            <a:ext cx="1876484" cy="3028381"/>
          </a:xfrm>
          <a:prstGeom prst="rect">
            <a:avLst/>
          </a:prstGeom>
          <a:gradFill>
            <a:gsLst>
              <a:gs pos="0">
                <a:srgbClr val="156082">
                  <a:alpha val="28627"/>
                </a:srgbClr>
              </a:gs>
              <a:gs pos="2000">
                <a:srgbClr val="156082">
                  <a:alpha val="28627"/>
                </a:srgbClr>
              </a:gs>
              <a:gs pos="100000">
                <a:srgbClr val="000000">
                  <a:alpha val="29803"/>
                </a:srgbClr>
              </a:gs>
            </a:gsLst>
            <a:lin ang="78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30"/>
          <p:cNvSpPr/>
          <p:nvPr/>
        </p:nvSpPr>
        <p:spPr>
          <a:xfrm rot="-964587">
            <a:off x="-376303" y="727289"/>
            <a:ext cx="2925268" cy="3134218"/>
          </a:xfrm>
          <a:custGeom>
            <a:rect b="b" l="l" r="r" t="t"/>
            <a:pathLst>
              <a:path extrusionOk="0" h="4178958" w="3900357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0">
                <a:srgbClr val="000000">
                  <a:alpha val="0"/>
                </a:srgbClr>
              </a:gs>
              <a:gs pos="29000">
                <a:srgbClr val="000000">
                  <a:alpha val="0"/>
                </a:srgbClr>
              </a:gs>
              <a:gs pos="100000">
                <a:srgbClr val="156082">
                  <a:alpha val="42745"/>
                </a:srgbClr>
              </a:gs>
            </a:gsLst>
            <a:lin ang="18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30"/>
          <p:cNvSpPr/>
          <p:nvPr/>
        </p:nvSpPr>
        <p:spPr>
          <a:xfrm flipH="1" rot="5400000">
            <a:off x="-1057570" y="1049957"/>
            <a:ext cx="5143502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43AFE2">
                  <a:alpha val="10980"/>
                </a:srgbClr>
              </a:gs>
              <a:gs pos="100000">
                <a:srgbClr val="43AFE2">
                  <a:alpha val="10980"/>
                </a:srgbClr>
              </a:gs>
            </a:gsLst>
            <a:lin ang="72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30"/>
          <p:cNvSpPr txBox="1"/>
          <p:nvPr>
            <p:ph type="title"/>
          </p:nvPr>
        </p:nvSpPr>
        <p:spPr>
          <a:xfrm>
            <a:off x="350041" y="440141"/>
            <a:ext cx="2401025" cy="254062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Times New Roman"/>
              <a:buNone/>
            </a:pPr>
            <a:r>
              <a:rPr b="1" lang="en-GB" sz="3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Stage 1 &amp; 2 - Hybrid Retrieval + Reranking</a:t>
            </a:r>
            <a:endParaRPr sz="30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2" name="Google Shape;202;p30"/>
          <p:cNvSpPr txBox="1"/>
          <p:nvPr>
            <p:ph idx="1" type="body"/>
          </p:nvPr>
        </p:nvSpPr>
        <p:spPr>
          <a:xfrm>
            <a:off x="3190375" y="1103075"/>
            <a:ext cx="2610600" cy="350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b="1" lang="en-GB" sz="1400">
                <a:latin typeface="Times New Roman"/>
                <a:ea typeface="Times New Roman"/>
                <a:cs typeface="Times New Roman"/>
                <a:sym typeface="Times New Roman"/>
              </a:rPr>
              <a:t>Dense Retrieval (Semantic):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GB" sz="1400">
                <a:latin typeface="Times New Roman"/>
                <a:ea typeface="Times New Roman"/>
                <a:cs typeface="Times New Roman"/>
                <a:sym typeface="Times New Roman"/>
              </a:rPr>
              <a:t>Model: sentence-transformers/all-mpnet-base-v2</a:t>
            </a:r>
            <a:endParaRPr/>
          </a:p>
          <a:p>
            <a:pPr indent="-1778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GB" sz="1400">
                <a:latin typeface="Times New Roman"/>
                <a:ea typeface="Times New Roman"/>
                <a:cs typeface="Times New Roman"/>
                <a:sym typeface="Times New Roman"/>
              </a:rPr>
              <a:t>Embedding dimension: 768</a:t>
            </a:r>
            <a:endParaRPr/>
          </a:p>
          <a:p>
            <a:pPr indent="-1778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GB" sz="1400">
                <a:latin typeface="Times New Roman"/>
                <a:ea typeface="Times New Roman"/>
                <a:cs typeface="Times New Roman"/>
                <a:sym typeface="Times New Roman"/>
              </a:rPr>
              <a:t>FAISS index for fast similarity search</a:t>
            </a:r>
            <a:endParaRPr/>
          </a:p>
          <a:p>
            <a:pPr indent="-1778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GB" sz="1400">
                <a:latin typeface="Times New Roman"/>
                <a:ea typeface="Times New Roman"/>
                <a:cs typeface="Times New Roman"/>
                <a:sym typeface="Times New Roman"/>
              </a:rPr>
              <a:t>Captures semantic meaning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b="1" lang="en-GB" sz="1400">
                <a:latin typeface="Times New Roman"/>
                <a:ea typeface="Times New Roman"/>
                <a:cs typeface="Times New Roman"/>
                <a:sym typeface="Times New Roman"/>
              </a:rPr>
              <a:t>Sparse Retrieval (Lexical):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GB" sz="1400">
                <a:latin typeface="Times New Roman"/>
                <a:ea typeface="Times New Roman"/>
                <a:cs typeface="Times New Roman"/>
                <a:sym typeface="Times New Roman"/>
              </a:rPr>
              <a:t>Method: BM25 (Rank-BM25)</a:t>
            </a:r>
            <a:endParaRPr/>
          </a:p>
          <a:p>
            <a:pPr indent="-1778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GB" sz="1400">
                <a:latin typeface="Times New Roman"/>
                <a:ea typeface="Times New Roman"/>
                <a:cs typeface="Times New Roman"/>
                <a:sym typeface="Times New Roman"/>
              </a:rPr>
              <a:t>Parameters: k1=1.5, b=0.75</a:t>
            </a:r>
            <a:endParaRPr/>
          </a:p>
          <a:p>
            <a:pPr indent="-1778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GB" sz="1400">
                <a:latin typeface="Times New Roman"/>
                <a:ea typeface="Times New Roman"/>
                <a:cs typeface="Times New Roman"/>
                <a:sym typeface="Times New Roman"/>
              </a:rPr>
              <a:t>Exact keyword matching</a:t>
            </a:r>
            <a:endParaRPr/>
          </a:p>
          <a:p>
            <a:pPr indent="-1778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GB" sz="1400">
                <a:latin typeface="Times New Roman"/>
                <a:ea typeface="Times New Roman"/>
                <a:cs typeface="Times New Roman"/>
                <a:sym typeface="Times New Roman"/>
              </a:rPr>
              <a:t>Handles rare/technical terms</a:t>
            </a:r>
            <a:endParaRPr/>
          </a:p>
        </p:txBody>
      </p:sp>
      <p:sp>
        <p:nvSpPr>
          <p:cNvPr id="203" name="Google Shape;203;p30"/>
          <p:cNvSpPr txBox="1"/>
          <p:nvPr/>
        </p:nvSpPr>
        <p:spPr>
          <a:xfrm>
            <a:off x="3491857" y="383541"/>
            <a:ext cx="4981200" cy="80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b="1" i="0" lang="en-GB" sz="2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Hybrid Retrieval : Best of Best Worlds</a:t>
            </a:r>
            <a:endParaRPr sz="1100"/>
          </a:p>
        </p:txBody>
      </p:sp>
      <p:sp>
        <p:nvSpPr>
          <p:cNvPr id="204" name="Google Shape;204;p30"/>
          <p:cNvSpPr txBox="1"/>
          <p:nvPr/>
        </p:nvSpPr>
        <p:spPr>
          <a:xfrm>
            <a:off x="7070598" y="1623060"/>
            <a:ext cx="1461000" cy="313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5" name="Google Shape;205;p30"/>
          <p:cNvSpPr txBox="1"/>
          <p:nvPr/>
        </p:nvSpPr>
        <p:spPr>
          <a:xfrm>
            <a:off x="6065623" y="1192350"/>
            <a:ext cx="2901600" cy="350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Score Fusion:  </a:t>
            </a:r>
            <a:r>
              <a:rPr b="0" i="0" lang="en-GB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Final_Score = 0.6 × Dense_Score + 0.4 × Sparse_Score</a:t>
            </a:r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Cross-Encoder Reranking:</a:t>
            </a:r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0" marL="177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n-GB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Model: cross-encoder/ms-marco-MiniLM-L-6-v2</a:t>
            </a:r>
            <a:endParaRPr sz="1100"/>
          </a:p>
          <a:p>
            <a:pPr indent="-177800" lvl="0" marL="177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n-GB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Scores (query, passage) pairs for relevance</a:t>
            </a:r>
            <a:endParaRPr sz="1100"/>
          </a:p>
          <a:p>
            <a:pPr indent="-177800" lvl="0" marL="177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n-GB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Top-k=5 → Top-t=2 final passages</a:t>
            </a:r>
            <a:endParaRPr sz="1100"/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Results:</a:t>
            </a:r>
            <a:r>
              <a:rPr b="0" i="0" lang="en-GB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Recall@20 = 0.9744  (Target: ≥0.95)</a:t>
            </a:r>
            <a:endParaRPr sz="1100"/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Times New Roman"/>
              <a:buNone/>
            </a:pPr>
            <a:r>
              <a:rPr b="1" lang="en-GB">
                <a:latin typeface="Times New Roman"/>
                <a:ea typeface="Times New Roman"/>
                <a:cs typeface="Times New Roman"/>
                <a:sym typeface="Times New Roman"/>
              </a:rPr>
              <a:t>Stage 3 - Answer Generation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1" name="Google Shape;211;p31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28"/>
              <a:buNone/>
            </a:pPr>
            <a:r>
              <a:rPr b="1" lang="en-GB" sz="1527">
                <a:latin typeface="Times New Roman"/>
                <a:ea typeface="Times New Roman"/>
                <a:cs typeface="Times New Roman"/>
                <a:sym typeface="Times New Roman"/>
              </a:rPr>
              <a:t>Generator: FLAN-T5-Large</a:t>
            </a:r>
            <a:endParaRPr sz="1527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7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28"/>
              <a:buNone/>
            </a:pPr>
            <a:r>
              <a:rPr b="1" lang="en-GB" sz="1527">
                <a:latin typeface="Times New Roman"/>
                <a:ea typeface="Times New Roman"/>
                <a:cs typeface="Times New Roman"/>
                <a:sym typeface="Times New Roman"/>
              </a:rPr>
              <a:t>Model Details:</a:t>
            </a:r>
            <a:endParaRPr sz="1527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7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28"/>
              <a:buNone/>
            </a:pPr>
            <a:r>
              <a:rPr lang="en-GB" sz="1527">
                <a:latin typeface="Times New Roman"/>
                <a:ea typeface="Times New Roman"/>
                <a:cs typeface="Times New Roman"/>
                <a:sym typeface="Times New Roman"/>
              </a:rPr>
              <a:t>Base: google/flan-t5-large (780M parameters)</a:t>
            </a:r>
            <a:endParaRPr sz="1527"/>
          </a:p>
          <a:p>
            <a:pPr indent="0" lvl="0" marL="0" rtl="0" algn="l">
              <a:lnSpc>
                <a:spcPct val="7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28"/>
              <a:buNone/>
            </a:pPr>
            <a:r>
              <a:rPr lang="en-GB" sz="1527">
                <a:latin typeface="Times New Roman"/>
                <a:ea typeface="Times New Roman"/>
                <a:cs typeface="Times New Roman"/>
                <a:sym typeface="Times New Roman"/>
              </a:rPr>
              <a:t>Fine-tuning: QLoRA (4-bit quantization) </a:t>
            </a:r>
            <a:endParaRPr sz="1527"/>
          </a:p>
          <a:p>
            <a:pPr indent="0" lvl="1" marL="342900" rtl="0" algn="l">
              <a:lnSpc>
                <a:spcPct val="7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95"/>
              <a:buNone/>
            </a:pPr>
            <a:r>
              <a:rPr lang="en-GB" sz="1295">
                <a:latin typeface="Times New Roman"/>
                <a:ea typeface="Times New Roman"/>
                <a:cs typeface="Times New Roman"/>
                <a:sym typeface="Times New Roman"/>
              </a:rPr>
              <a:t>LoRA rank r=16, α=32</a:t>
            </a:r>
            <a:endParaRPr sz="1295"/>
          </a:p>
          <a:p>
            <a:pPr indent="0" lvl="1" marL="342900" rtl="0" algn="l">
              <a:lnSpc>
                <a:spcPct val="7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95"/>
              <a:buNone/>
            </a:pPr>
            <a:r>
              <a:rPr lang="en-GB" sz="1295">
                <a:latin typeface="Times New Roman"/>
                <a:ea typeface="Times New Roman"/>
                <a:cs typeface="Times New Roman"/>
                <a:sym typeface="Times New Roman"/>
              </a:rPr>
              <a:t>Dropout=0.1</a:t>
            </a:r>
            <a:endParaRPr sz="1295"/>
          </a:p>
          <a:p>
            <a:pPr indent="0" lvl="0" marL="0" rtl="0" algn="l">
              <a:lnSpc>
                <a:spcPct val="7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28"/>
              <a:buNone/>
            </a:pPr>
            <a:r>
              <a:rPr lang="en-GB" sz="1527">
                <a:latin typeface="Times New Roman"/>
                <a:ea typeface="Times New Roman"/>
                <a:cs typeface="Times New Roman"/>
                <a:sym typeface="Times New Roman"/>
              </a:rPr>
              <a:t>Training data: SQuAD v2</a:t>
            </a:r>
            <a:endParaRPr sz="1527"/>
          </a:p>
          <a:p>
            <a:pPr indent="0" lvl="0" marL="0" rtl="0" algn="l">
              <a:lnSpc>
                <a:spcPct val="7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28"/>
              <a:buNone/>
            </a:pPr>
            <a:r>
              <a:rPr b="1" lang="en-GB" sz="1527">
                <a:latin typeface="Times New Roman"/>
                <a:ea typeface="Times New Roman"/>
                <a:cs typeface="Times New Roman"/>
                <a:sym typeface="Times New Roman"/>
              </a:rPr>
              <a:t>Generation Prompt:</a:t>
            </a:r>
            <a:endParaRPr sz="1527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7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28"/>
              <a:buNone/>
            </a:pPr>
            <a:r>
              <a:rPr lang="en-GB" sz="1527">
                <a:latin typeface="Times New Roman"/>
                <a:ea typeface="Times New Roman"/>
                <a:cs typeface="Times New Roman"/>
                <a:sym typeface="Times New Roman"/>
              </a:rPr>
              <a:t>Context: [top-2 retrieved passages]</a:t>
            </a:r>
            <a:endParaRPr sz="1527"/>
          </a:p>
          <a:p>
            <a:pPr indent="0" lvl="0" marL="0" rtl="0" algn="l">
              <a:lnSpc>
                <a:spcPct val="7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28"/>
              <a:buNone/>
            </a:pPr>
            <a:r>
              <a:rPr lang="en-GB" sz="1527">
                <a:latin typeface="Times New Roman"/>
                <a:ea typeface="Times New Roman"/>
                <a:cs typeface="Times New Roman"/>
                <a:sym typeface="Times New Roman"/>
              </a:rPr>
              <a:t>Question: [user query]</a:t>
            </a:r>
            <a:endParaRPr sz="1527"/>
          </a:p>
          <a:p>
            <a:pPr indent="0" lvl="0" marL="0" rtl="0" algn="l">
              <a:lnSpc>
                <a:spcPct val="7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28"/>
              <a:buNone/>
            </a:pPr>
            <a:r>
              <a:rPr lang="en-GB" sz="1527">
                <a:latin typeface="Times New Roman"/>
                <a:ea typeface="Times New Roman"/>
                <a:cs typeface="Times New Roman"/>
                <a:sym typeface="Times New Roman"/>
              </a:rPr>
              <a:t>Based strictly on the context above, provide a factual answer.</a:t>
            </a:r>
            <a:endParaRPr sz="1527"/>
          </a:p>
        </p:txBody>
      </p:sp>
      <p:sp>
        <p:nvSpPr>
          <p:cNvPr id="212" name="Google Shape;212;p3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70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If insufficient evidence, respond "Cannot answer based on context."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Answer: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GB">
                <a:latin typeface="Times New Roman"/>
                <a:ea typeface="Times New Roman"/>
                <a:cs typeface="Times New Roman"/>
                <a:sym typeface="Times New Roman"/>
              </a:rPr>
              <a:t>Generation Settings: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Beam search (k=5)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Temperature: 0.7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Max length: 256 tokens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GB">
                <a:latin typeface="Times New Roman"/>
                <a:ea typeface="Times New Roman"/>
                <a:cs typeface="Times New Roman"/>
                <a:sym typeface="Times New Roman"/>
              </a:rPr>
              <a:t>Why FLAN-T5?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Instruction-tuned for better instruction following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Good balance of quality and efficiency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Open-source and reproducible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889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32"/>
          <p:cNvSpPr/>
          <p:nvPr/>
        </p:nvSpPr>
        <p:spPr>
          <a:xfrm>
            <a:off x="0" y="0"/>
            <a:ext cx="9141714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32"/>
          <p:cNvSpPr/>
          <p:nvPr/>
        </p:nvSpPr>
        <p:spPr>
          <a:xfrm flipH="1" rot="5400000">
            <a:off x="-1057563" y="1057561"/>
            <a:ext cx="5143500" cy="3028377"/>
          </a:xfrm>
          <a:prstGeom prst="rect">
            <a:avLst/>
          </a:prstGeom>
          <a:gradFill>
            <a:gsLst>
              <a:gs pos="0">
                <a:srgbClr val="000000"/>
              </a:gs>
              <a:gs pos="8000">
                <a:srgbClr val="000000"/>
              </a:gs>
              <a:gs pos="100000">
                <a:srgbClr val="0F4861"/>
              </a:gs>
            </a:gsLst>
            <a:lin ang="30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32"/>
          <p:cNvSpPr/>
          <p:nvPr/>
        </p:nvSpPr>
        <p:spPr>
          <a:xfrm flipH="1" rot="5400000">
            <a:off x="-1057564" y="1065164"/>
            <a:ext cx="51434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156082">
                  <a:alpha val="45882"/>
                </a:srgbClr>
              </a:gs>
              <a:gs pos="100000">
                <a:srgbClr val="156082">
                  <a:alpha val="45882"/>
                </a:srgbClr>
              </a:gs>
            </a:gsLst>
            <a:lin ang="18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32"/>
          <p:cNvSpPr/>
          <p:nvPr/>
        </p:nvSpPr>
        <p:spPr>
          <a:xfrm flipH="1" rot="5400000">
            <a:off x="575942" y="2691064"/>
            <a:ext cx="1876484" cy="3028381"/>
          </a:xfrm>
          <a:prstGeom prst="rect">
            <a:avLst/>
          </a:prstGeom>
          <a:gradFill>
            <a:gsLst>
              <a:gs pos="0">
                <a:srgbClr val="156082">
                  <a:alpha val="28627"/>
                </a:srgbClr>
              </a:gs>
              <a:gs pos="2000">
                <a:srgbClr val="156082">
                  <a:alpha val="28627"/>
                </a:srgbClr>
              </a:gs>
              <a:gs pos="100000">
                <a:srgbClr val="000000">
                  <a:alpha val="29803"/>
                </a:srgbClr>
              </a:gs>
            </a:gsLst>
            <a:lin ang="78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32"/>
          <p:cNvSpPr/>
          <p:nvPr/>
        </p:nvSpPr>
        <p:spPr>
          <a:xfrm rot="-964587">
            <a:off x="-376303" y="727289"/>
            <a:ext cx="2925268" cy="3134218"/>
          </a:xfrm>
          <a:custGeom>
            <a:rect b="b" l="l" r="r" t="t"/>
            <a:pathLst>
              <a:path extrusionOk="0" h="4178958" w="3900357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0">
                <a:srgbClr val="000000">
                  <a:alpha val="0"/>
                </a:srgbClr>
              </a:gs>
              <a:gs pos="29000">
                <a:srgbClr val="000000">
                  <a:alpha val="0"/>
                </a:srgbClr>
              </a:gs>
              <a:gs pos="100000">
                <a:srgbClr val="156082">
                  <a:alpha val="42745"/>
                </a:srgbClr>
              </a:gs>
            </a:gsLst>
            <a:lin ang="18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32"/>
          <p:cNvSpPr/>
          <p:nvPr/>
        </p:nvSpPr>
        <p:spPr>
          <a:xfrm flipH="1" rot="5400000">
            <a:off x="-1057570" y="1049957"/>
            <a:ext cx="5143502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43AFE2">
                  <a:alpha val="10980"/>
                </a:srgbClr>
              </a:gs>
              <a:gs pos="100000">
                <a:srgbClr val="43AFE2">
                  <a:alpha val="10980"/>
                </a:srgbClr>
              </a:gs>
            </a:gsLst>
            <a:lin ang="72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32"/>
          <p:cNvSpPr txBox="1"/>
          <p:nvPr>
            <p:ph type="title"/>
          </p:nvPr>
        </p:nvSpPr>
        <p:spPr>
          <a:xfrm>
            <a:off x="350041" y="440141"/>
            <a:ext cx="2401025" cy="254062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Times New Roman"/>
              <a:buNone/>
            </a:pPr>
            <a:r>
              <a:rPr b="1" lang="en-GB" sz="3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Stage 4 - Claim Extraction &amp; Verification</a:t>
            </a:r>
            <a:br>
              <a:rPr lang="en-GB" sz="3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30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5" name="Google Shape;225;p32"/>
          <p:cNvSpPr txBox="1"/>
          <p:nvPr>
            <p:ph idx="1" type="body"/>
          </p:nvPr>
        </p:nvSpPr>
        <p:spPr>
          <a:xfrm>
            <a:off x="3607694" y="487110"/>
            <a:ext cx="4964806" cy="43203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92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GB" sz="1500">
                <a:latin typeface="Times New Roman"/>
                <a:ea typeface="Times New Roman"/>
                <a:cs typeface="Times New Roman"/>
                <a:sym typeface="Times New Roman"/>
              </a:rPr>
              <a:t>Claim Extraction: Breaking Down Answers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GB" sz="1500">
                <a:latin typeface="Times New Roman"/>
                <a:ea typeface="Times New Roman"/>
                <a:cs typeface="Times New Roman"/>
                <a:sym typeface="Times New Roman"/>
              </a:rPr>
              <a:t>Method:</a:t>
            </a: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 spaCy dependency parsing (en_core_web_sm)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GB" sz="1500"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GB" sz="1500">
                <a:latin typeface="Times New Roman"/>
                <a:ea typeface="Times New Roman"/>
                <a:cs typeface="Times New Roman"/>
                <a:sym typeface="Times New Roman"/>
              </a:rPr>
              <a:t>Answer:</a:t>
            </a: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 "UF was founded in 1853. UF colors are orange and blue."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GB" sz="1500">
                <a:latin typeface="Times New Roman"/>
                <a:ea typeface="Times New Roman"/>
                <a:cs typeface="Times New Roman"/>
                <a:sym typeface="Times New Roman"/>
              </a:rPr>
              <a:t>Extracted Claims:</a:t>
            </a: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0" lvl="1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"UF was founded in 1853"</a:t>
            </a:r>
            <a:endParaRPr/>
          </a:p>
          <a:p>
            <a:pPr indent="0" lvl="1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"UF colors are orange and blue"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GB" sz="1500">
                <a:latin typeface="Times New Roman"/>
                <a:ea typeface="Times New Roman"/>
                <a:cs typeface="Times New Roman"/>
                <a:sym typeface="Times New Roman"/>
              </a:rPr>
              <a:t>Verification: Natural Language Inference (NLI)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GB" sz="1500">
                <a:latin typeface="Times New Roman"/>
                <a:ea typeface="Times New Roman"/>
                <a:cs typeface="Times New Roman"/>
                <a:sym typeface="Times New Roman"/>
              </a:rPr>
              <a:t>Model:</a:t>
            </a: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 microsoft/deberta-v3-large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why? </a:t>
            </a: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Fine-tuned on NLI tasks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3-way classification: ENTAILMENT / CONTRADICTION / NEUTRAL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GB" sz="1500">
                <a:latin typeface="Times New Roman"/>
                <a:ea typeface="Times New Roman"/>
                <a:cs typeface="Times New Roman"/>
                <a:sym typeface="Times New Roman"/>
              </a:rPr>
              <a:t>For each claim: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Check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 if </a:t>
            </a:r>
            <a:r>
              <a:rPr b="1" lang="en-GB" sz="1500">
                <a:latin typeface="Times New Roman"/>
                <a:ea typeface="Times New Roman"/>
                <a:cs typeface="Times New Roman"/>
                <a:sym typeface="Times New Roman"/>
              </a:rPr>
              <a:t>ANY</a:t>
            </a: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 retrieved passage entails the claim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Entailment score &gt; τ (threshold=0.75) → SUPPORTED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Otherwise → UNSUPPORTED (hallucination)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33"/>
          <p:cNvSpPr/>
          <p:nvPr/>
        </p:nvSpPr>
        <p:spPr>
          <a:xfrm>
            <a:off x="0" y="0"/>
            <a:ext cx="9141714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33"/>
          <p:cNvSpPr/>
          <p:nvPr/>
        </p:nvSpPr>
        <p:spPr>
          <a:xfrm flipH="1" rot="5400000">
            <a:off x="-1057563" y="1057561"/>
            <a:ext cx="5143500" cy="3028377"/>
          </a:xfrm>
          <a:prstGeom prst="rect">
            <a:avLst/>
          </a:prstGeom>
          <a:gradFill>
            <a:gsLst>
              <a:gs pos="0">
                <a:srgbClr val="000000"/>
              </a:gs>
              <a:gs pos="8000">
                <a:srgbClr val="000000"/>
              </a:gs>
              <a:gs pos="100000">
                <a:srgbClr val="0F4861"/>
              </a:gs>
            </a:gsLst>
            <a:lin ang="30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33"/>
          <p:cNvSpPr/>
          <p:nvPr/>
        </p:nvSpPr>
        <p:spPr>
          <a:xfrm flipH="1" rot="5400000">
            <a:off x="-1057564" y="1065164"/>
            <a:ext cx="51434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156082">
                  <a:alpha val="45882"/>
                </a:srgbClr>
              </a:gs>
              <a:gs pos="100000">
                <a:srgbClr val="156082">
                  <a:alpha val="45882"/>
                </a:srgbClr>
              </a:gs>
            </a:gsLst>
            <a:lin ang="18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33"/>
          <p:cNvSpPr/>
          <p:nvPr/>
        </p:nvSpPr>
        <p:spPr>
          <a:xfrm flipH="1" rot="5400000">
            <a:off x="575942" y="2691064"/>
            <a:ext cx="1876484" cy="3028381"/>
          </a:xfrm>
          <a:prstGeom prst="rect">
            <a:avLst/>
          </a:prstGeom>
          <a:gradFill>
            <a:gsLst>
              <a:gs pos="0">
                <a:srgbClr val="156082">
                  <a:alpha val="28627"/>
                </a:srgbClr>
              </a:gs>
              <a:gs pos="2000">
                <a:srgbClr val="156082">
                  <a:alpha val="28627"/>
                </a:srgbClr>
              </a:gs>
              <a:gs pos="100000">
                <a:srgbClr val="000000">
                  <a:alpha val="29803"/>
                </a:srgbClr>
              </a:gs>
            </a:gsLst>
            <a:lin ang="78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33"/>
          <p:cNvSpPr/>
          <p:nvPr/>
        </p:nvSpPr>
        <p:spPr>
          <a:xfrm rot="-964587">
            <a:off x="-376303" y="727289"/>
            <a:ext cx="2925268" cy="3134218"/>
          </a:xfrm>
          <a:custGeom>
            <a:rect b="b" l="l" r="r" t="t"/>
            <a:pathLst>
              <a:path extrusionOk="0" h="4178958" w="3900357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0">
                <a:srgbClr val="000000">
                  <a:alpha val="0"/>
                </a:srgbClr>
              </a:gs>
              <a:gs pos="29000">
                <a:srgbClr val="000000">
                  <a:alpha val="0"/>
                </a:srgbClr>
              </a:gs>
              <a:gs pos="100000">
                <a:srgbClr val="156082">
                  <a:alpha val="42745"/>
                </a:srgbClr>
              </a:gs>
            </a:gsLst>
            <a:lin ang="18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33"/>
          <p:cNvSpPr/>
          <p:nvPr/>
        </p:nvSpPr>
        <p:spPr>
          <a:xfrm flipH="1" rot="5400000">
            <a:off x="-1057570" y="1049957"/>
            <a:ext cx="5143502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43AFE2">
                  <a:alpha val="10980"/>
                </a:srgbClr>
              </a:gs>
              <a:gs pos="100000">
                <a:srgbClr val="43AFE2">
                  <a:alpha val="10980"/>
                </a:srgbClr>
              </a:gs>
            </a:gsLst>
            <a:lin ang="72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33"/>
          <p:cNvSpPr txBox="1"/>
          <p:nvPr>
            <p:ph type="title"/>
          </p:nvPr>
        </p:nvSpPr>
        <p:spPr>
          <a:xfrm>
            <a:off x="350041" y="440141"/>
            <a:ext cx="2401025" cy="254062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Times New Roman"/>
              <a:buNone/>
            </a:pPr>
            <a:r>
              <a:rPr b="1" lang="en-GB" sz="3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Verification Metrics &amp; Decision Logic</a:t>
            </a:r>
            <a:endParaRPr sz="30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8" name="Google Shape;238;p33"/>
          <p:cNvSpPr txBox="1"/>
          <p:nvPr>
            <p:ph idx="1" type="body"/>
          </p:nvPr>
        </p:nvSpPr>
        <p:spPr>
          <a:xfrm>
            <a:off x="3626783" y="383541"/>
            <a:ext cx="4916510" cy="277990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b="1" lang="en-GB" sz="1500">
                <a:latin typeface="Times New Roman"/>
                <a:ea typeface="Times New Roman"/>
                <a:cs typeface="Times New Roman"/>
                <a:sym typeface="Times New Roman"/>
              </a:rPr>
              <a:t>Factual Precision: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Factual_Precision = Supported_Claims / Total_Claims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Measures: How many generated claims are factually correct?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b="1" lang="en-GB" sz="1500">
                <a:latin typeface="Times New Roman"/>
                <a:ea typeface="Times New Roman"/>
                <a:cs typeface="Times New Roman"/>
                <a:sym typeface="Times New Roman"/>
              </a:rPr>
              <a:t>Hallucination Rate: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Hallucination_Rate = 1 - Factual_Precision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Measures: Percentage of unsupported/fabricated claims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b="1" lang="en-GB" sz="1500">
                <a:latin typeface="Times New Roman"/>
                <a:ea typeface="Times New Roman"/>
                <a:cs typeface="Times New Roman"/>
                <a:sym typeface="Times New Roman"/>
              </a:rPr>
              <a:t>Verified F1: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Verified_F1 = F1_Score × Factual_Precision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b="1" lang="en-GB" sz="1500">
                <a:latin typeface="Times New Roman"/>
                <a:ea typeface="Times New Roman"/>
                <a:cs typeface="Times New Roman"/>
                <a:sym typeface="Times New Roman"/>
              </a:rPr>
              <a:t>Decision Logic :</a:t>
            </a:r>
            <a:endParaRPr/>
          </a:p>
        </p:txBody>
      </p:sp>
      <p:graphicFrame>
        <p:nvGraphicFramePr>
          <p:cNvPr id="239" name="Google Shape;239;p33"/>
          <p:cNvGraphicFramePr/>
          <p:nvPr/>
        </p:nvGraphicFramePr>
        <p:xfrm>
          <a:off x="3678791" y="3260297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{0F354E13-5000-42DC-8ECC-7DAA22E1D1C1}</a:tableStyleId>
              </a:tblPr>
              <a:tblGrid>
                <a:gridCol w="2069650"/>
                <a:gridCol w="2546450"/>
              </a:tblGrid>
              <a:tr h="368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b="1" lang="en-GB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Factual Precision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1425" marL="5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b="1" lang="en-GB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Action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1425" marL="51425">
                    <a:solidFill>
                      <a:schemeClr val="lt2"/>
                    </a:solidFill>
                  </a:tcPr>
                </a:tc>
              </a:tr>
              <a:tr h="377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GB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≥ 0.85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1425" marL="5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GB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ACCEPT - High confidence, return answer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1425" marL="51425"/>
                </a:tc>
              </a:tr>
              <a:tr h="377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GB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0.60 - 0.85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1425" marL="5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GB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REVISE - Moderate confidence, trigger revision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1425" marL="51425"/>
                </a:tc>
              </a:tr>
              <a:tr h="377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GB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&lt; 0.60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1425" marL="5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GB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REJECT/ABSTAIN - Low confidence, cannot answer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1425" marL="5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34"/>
          <p:cNvSpPr/>
          <p:nvPr/>
        </p:nvSpPr>
        <p:spPr>
          <a:xfrm flipH="1">
            <a:off x="-1" y="3949802"/>
            <a:ext cx="9143999" cy="1193057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34"/>
          <p:cNvSpPr/>
          <p:nvPr/>
        </p:nvSpPr>
        <p:spPr>
          <a:xfrm flipH="1">
            <a:off x="-1" y="3952631"/>
            <a:ext cx="9138998" cy="1193057"/>
          </a:xfrm>
          <a:prstGeom prst="rect">
            <a:avLst/>
          </a:prstGeom>
          <a:gradFill>
            <a:gsLst>
              <a:gs pos="0">
                <a:srgbClr val="156082">
                  <a:alpha val="0"/>
                </a:srgbClr>
              </a:gs>
              <a:gs pos="100000">
                <a:srgbClr val="0A3041"/>
              </a:gs>
            </a:gsLst>
            <a:lin ang="102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34"/>
          <p:cNvSpPr/>
          <p:nvPr/>
        </p:nvSpPr>
        <p:spPr>
          <a:xfrm flipH="1">
            <a:off x="6086474" y="3949160"/>
            <a:ext cx="3057524" cy="1193057"/>
          </a:xfrm>
          <a:prstGeom prst="rect">
            <a:avLst/>
          </a:prstGeom>
          <a:gradFill>
            <a:gsLst>
              <a:gs pos="0">
                <a:srgbClr val="0A3041"/>
              </a:gs>
              <a:gs pos="100000">
                <a:srgbClr val="156082">
                  <a:alpha val="0"/>
                </a:srgbClr>
              </a:gs>
            </a:gsLst>
            <a:lin ang="132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34"/>
          <p:cNvSpPr/>
          <p:nvPr/>
        </p:nvSpPr>
        <p:spPr>
          <a:xfrm rot="10800000">
            <a:off x="-10001" y="3947612"/>
            <a:ext cx="9144000" cy="119807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0A3041">
                  <a:alpha val="54901"/>
                </a:srgbClr>
              </a:gs>
              <a:gs pos="100000">
                <a:srgbClr val="0A3041">
                  <a:alpha val="54901"/>
                </a:srgbClr>
              </a:gs>
            </a:gsLst>
            <a:lin ang="168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34"/>
          <p:cNvSpPr txBox="1"/>
          <p:nvPr>
            <p:ph type="title"/>
          </p:nvPr>
        </p:nvSpPr>
        <p:spPr>
          <a:xfrm>
            <a:off x="1028699" y="4132690"/>
            <a:ext cx="7421963" cy="77525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Times New Roman"/>
              <a:buNone/>
            </a:pPr>
            <a:r>
              <a:rPr b="1" lang="en-GB" sz="3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Stage 5 - Adaptive Revision Strategies</a:t>
            </a:r>
            <a:endParaRPr sz="30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0" name="Google Shape;250;p34"/>
          <p:cNvSpPr txBox="1"/>
          <p:nvPr>
            <p:ph idx="1" type="body"/>
          </p:nvPr>
        </p:nvSpPr>
        <p:spPr>
          <a:xfrm>
            <a:off x="1455191" y="2874899"/>
            <a:ext cx="6537643" cy="83998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Three Revision Strategies (Adaptive Selection)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Strategy Selection Based on Entailment Rate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t/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51" name="Google Shape;251;p34"/>
          <p:cNvGraphicFramePr/>
          <p:nvPr/>
        </p:nvGraphicFramePr>
        <p:xfrm>
          <a:off x="1455192" y="670851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{0F354E13-5000-42DC-8ECC-7DAA22E1D1C1}</a:tableStyleId>
              </a:tblPr>
              <a:tblGrid>
                <a:gridCol w="1732700"/>
                <a:gridCol w="2469375"/>
                <a:gridCol w="2335525"/>
              </a:tblGrid>
              <a:tr h="271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1" lang="en-GB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Entailment Rate</a:t>
                      </a:r>
                      <a:endParaRPr b="1"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200" marL="6320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1" lang="en-GB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Strategy</a:t>
                      </a:r>
                      <a:endParaRPr b="1"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200" marL="6320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1" lang="en-GB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Rationale</a:t>
                      </a:r>
                      <a:endParaRPr b="1"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200" marL="63200" anchor="ctr">
                    <a:solidFill>
                      <a:schemeClr val="lt2"/>
                    </a:solidFill>
                  </a:tcPr>
                </a:tc>
              </a:tr>
              <a:tr h="467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GB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&lt; 0.5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200" marL="632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GB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RE_RETRIEVAL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200" marL="632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GB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Most claims wrong → need better evidence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200" marL="63200" anchor="ctr"/>
                </a:tc>
              </a:tr>
              <a:tr h="467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GB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0.5 - 0.8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200" marL="632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GB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CONSTRAINED_GENERATION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200" marL="632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GB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Mixed results → guide generator with verified facts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200" marL="63200" anchor="ctr"/>
                </a:tc>
              </a:tr>
              <a:tr h="467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GB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≥ 0.8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200" marL="632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GB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CLAIM_BY_CLAIM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200" marL="632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GB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Most claims correct → fix only wrong ones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200" marL="6320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5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Times New Roman"/>
              <a:buNone/>
            </a:pPr>
            <a:r>
              <a:rPr b="1" lang="en-GB">
                <a:latin typeface="Times New Roman"/>
                <a:ea typeface="Times New Roman"/>
                <a:cs typeface="Times New Roman"/>
                <a:sym typeface="Times New Roman"/>
              </a:rPr>
              <a:t>Experimental Setup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7" name="Google Shape;257;p35"/>
          <p:cNvSpPr txBox="1"/>
          <p:nvPr>
            <p:ph idx="1" type="body"/>
          </p:nvPr>
        </p:nvSpPr>
        <p:spPr>
          <a:xfrm>
            <a:off x="628650" y="1369225"/>
            <a:ext cx="27408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77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GB">
                <a:latin typeface="Times New Roman"/>
                <a:ea typeface="Times New Roman"/>
                <a:cs typeface="Times New Roman"/>
                <a:sym typeface="Times New Roman"/>
              </a:rPr>
              <a:t>Dataset: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9546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GB">
                <a:latin typeface="Times New Roman"/>
                <a:ea typeface="Times New Roman"/>
                <a:cs typeface="Times New Roman"/>
                <a:sym typeface="Times New Roman"/>
              </a:rPr>
              <a:t>SQuAD v2.0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validation split</a:t>
            </a:r>
            <a:endParaRPr/>
          </a:p>
          <a:p>
            <a:pPr indent="-179546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5000 queries for main evaluation</a:t>
            </a:r>
            <a:endParaRPr/>
          </a:p>
          <a:p>
            <a:pPr indent="-179546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1000 queries for strategy comparison</a:t>
            </a:r>
            <a:endParaRPr/>
          </a:p>
          <a:p>
            <a:pPr indent="-179546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Corpus: 132-507 Wikipedia passages (varies by sample)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-GB">
                <a:latin typeface="Times New Roman"/>
                <a:ea typeface="Times New Roman"/>
                <a:cs typeface="Times New Roman"/>
                <a:sym typeface="Times New Roman"/>
              </a:rPr>
              <a:t>Implementation: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9546" lvl="0" marL="177800" rtl="0" algn="l">
              <a:spcBef>
                <a:spcPts val="800"/>
              </a:spcBef>
              <a:spcAft>
                <a:spcPts val="0"/>
              </a:spcAft>
              <a:buSzPct val="100000"/>
              <a:buChar char="•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Framework: PyTorch, Transformers, FAISS</a:t>
            </a:r>
            <a:endParaRPr/>
          </a:p>
          <a:p>
            <a:pPr indent="-179546" lvl="0" marL="177800" rtl="0" algn="l">
              <a:spcBef>
                <a:spcPts val="800"/>
              </a:spcBef>
              <a:spcAft>
                <a:spcPts val="0"/>
              </a:spcAft>
              <a:buSzPct val="100000"/>
              <a:buChar char="•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Compute: HiPerGator (NVIDIA B200 GPU)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58" name="Google Shape;258;p35"/>
          <p:cNvGraphicFramePr/>
          <p:nvPr/>
        </p:nvGraphicFramePr>
        <p:xfrm>
          <a:off x="3531850" y="1761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{4B8F1B9E-3746-4A46-B8E3-A1BFCDC618B7}</a:tableStyleId>
              </a:tblPr>
              <a:tblGrid>
                <a:gridCol w="1120550"/>
                <a:gridCol w="2473375"/>
                <a:gridCol w="1815650"/>
              </a:tblGrid>
              <a:tr h="349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Category</a:t>
                      </a:r>
                      <a:endParaRPr b="1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F48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F48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F48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F48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Metrics</a:t>
                      </a:r>
                      <a:endParaRPr b="1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F48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F48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F48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F48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Purpose</a:t>
                      </a:r>
                      <a:endParaRPr b="1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F48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F48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F48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F48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Retrieval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F48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F48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F48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F48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Recall@K, Coverage Index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F48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F48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F48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F48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Did we find the right documents?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F48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F48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F48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F48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7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Verification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F48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F48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F48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F48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Factual Precision, Factual Recall, Hallucination Rate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F48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F48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F48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F48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Are claims supported by evidence?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F48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F48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F48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F48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4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Generation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F48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F48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F48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F48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F1, EM, BLEU-4, ROUGE-L, Abstention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F48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F48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F48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F48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Is the text quality good?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F48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F48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F48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F48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4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Composite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F48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F48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F48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F48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Verified F1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F48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F48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F48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F48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Is it both accurate AND high-quality?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F48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F48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F48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F48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59" name="Google Shape;259;p35"/>
          <p:cNvSpPr txBox="1"/>
          <p:nvPr/>
        </p:nvSpPr>
        <p:spPr>
          <a:xfrm>
            <a:off x="3468625" y="1311450"/>
            <a:ext cx="30000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Evaluation Metrics</a:t>
            </a:r>
            <a:r>
              <a:rPr b="1"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sz="16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36"/>
          <p:cNvSpPr/>
          <p:nvPr/>
        </p:nvSpPr>
        <p:spPr>
          <a:xfrm>
            <a:off x="0" y="0"/>
            <a:ext cx="9141714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36"/>
          <p:cNvSpPr/>
          <p:nvPr/>
        </p:nvSpPr>
        <p:spPr>
          <a:xfrm flipH="1" rot="5400000">
            <a:off x="-1057563" y="1057561"/>
            <a:ext cx="5143500" cy="3028377"/>
          </a:xfrm>
          <a:prstGeom prst="rect">
            <a:avLst/>
          </a:prstGeom>
          <a:gradFill>
            <a:gsLst>
              <a:gs pos="0">
                <a:srgbClr val="000000"/>
              </a:gs>
              <a:gs pos="8000">
                <a:srgbClr val="000000"/>
              </a:gs>
              <a:gs pos="100000">
                <a:srgbClr val="0F4861"/>
              </a:gs>
            </a:gsLst>
            <a:lin ang="30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36"/>
          <p:cNvSpPr/>
          <p:nvPr/>
        </p:nvSpPr>
        <p:spPr>
          <a:xfrm flipH="1" rot="5400000">
            <a:off x="-1057564" y="1065164"/>
            <a:ext cx="51434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156082">
                  <a:alpha val="45882"/>
                </a:srgbClr>
              </a:gs>
              <a:gs pos="100000">
                <a:srgbClr val="156082">
                  <a:alpha val="45882"/>
                </a:srgbClr>
              </a:gs>
            </a:gsLst>
            <a:lin ang="18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36"/>
          <p:cNvSpPr/>
          <p:nvPr/>
        </p:nvSpPr>
        <p:spPr>
          <a:xfrm flipH="1" rot="5400000">
            <a:off x="575942" y="2691064"/>
            <a:ext cx="1876484" cy="3028381"/>
          </a:xfrm>
          <a:prstGeom prst="rect">
            <a:avLst/>
          </a:prstGeom>
          <a:gradFill>
            <a:gsLst>
              <a:gs pos="0">
                <a:srgbClr val="156082">
                  <a:alpha val="28627"/>
                </a:srgbClr>
              </a:gs>
              <a:gs pos="2000">
                <a:srgbClr val="156082">
                  <a:alpha val="28627"/>
                </a:srgbClr>
              </a:gs>
              <a:gs pos="100000">
                <a:srgbClr val="000000">
                  <a:alpha val="29803"/>
                </a:srgbClr>
              </a:gs>
            </a:gsLst>
            <a:lin ang="78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36"/>
          <p:cNvSpPr/>
          <p:nvPr/>
        </p:nvSpPr>
        <p:spPr>
          <a:xfrm rot="-964587">
            <a:off x="-376303" y="727289"/>
            <a:ext cx="2925268" cy="3134218"/>
          </a:xfrm>
          <a:custGeom>
            <a:rect b="b" l="l" r="r" t="t"/>
            <a:pathLst>
              <a:path extrusionOk="0" h="4178958" w="3900357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0">
                <a:srgbClr val="000000">
                  <a:alpha val="0"/>
                </a:srgbClr>
              </a:gs>
              <a:gs pos="29000">
                <a:srgbClr val="000000">
                  <a:alpha val="0"/>
                </a:srgbClr>
              </a:gs>
              <a:gs pos="100000">
                <a:srgbClr val="156082">
                  <a:alpha val="42745"/>
                </a:srgbClr>
              </a:gs>
            </a:gsLst>
            <a:lin ang="18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36"/>
          <p:cNvSpPr/>
          <p:nvPr/>
        </p:nvSpPr>
        <p:spPr>
          <a:xfrm flipH="1" rot="5400000">
            <a:off x="-1057570" y="1049957"/>
            <a:ext cx="5143502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43AFE2">
                  <a:alpha val="10980"/>
                </a:srgbClr>
              </a:gs>
              <a:gs pos="100000">
                <a:srgbClr val="43AFE2">
                  <a:alpha val="10980"/>
                </a:srgbClr>
              </a:gs>
            </a:gsLst>
            <a:lin ang="72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36"/>
          <p:cNvSpPr txBox="1"/>
          <p:nvPr>
            <p:ph type="title"/>
          </p:nvPr>
        </p:nvSpPr>
        <p:spPr>
          <a:xfrm>
            <a:off x="350041" y="440141"/>
            <a:ext cx="2401025" cy="254062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Times New Roman"/>
              <a:buNone/>
            </a:pPr>
            <a:r>
              <a:rPr b="1" lang="en-GB" sz="3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 - Baseline Performance</a:t>
            </a:r>
            <a:endParaRPr sz="30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2" name="Google Shape;272;p36"/>
          <p:cNvSpPr txBox="1"/>
          <p:nvPr>
            <p:ph idx="1" type="body"/>
          </p:nvPr>
        </p:nvSpPr>
        <p:spPr>
          <a:xfrm>
            <a:off x="3607694" y="383542"/>
            <a:ext cx="5245984" cy="218820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en-GB" sz="1900">
                <a:latin typeface="Times New Roman"/>
                <a:ea typeface="Times New Roman"/>
                <a:cs typeface="Times New Roman"/>
                <a:sym typeface="Times New Roman"/>
              </a:rPr>
              <a:t>Experiment 1: Baseline RAG (No Verification)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en-GB" sz="1900">
                <a:latin typeface="Times New Roman"/>
                <a:ea typeface="Times New Roman"/>
                <a:cs typeface="Times New Roman"/>
                <a:sym typeface="Times New Roman"/>
              </a:rPr>
              <a:t>Configuration: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841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pPr>
            <a:r>
              <a:rPr lang="en-GB" sz="1900">
                <a:latin typeface="Times New Roman"/>
                <a:ea typeface="Times New Roman"/>
                <a:cs typeface="Times New Roman"/>
                <a:sym typeface="Times New Roman"/>
              </a:rPr>
              <a:t>Standard RAG: Retrieval → Generation</a:t>
            </a:r>
            <a:endParaRPr/>
          </a:p>
          <a:p>
            <a:pPr indent="-1841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pPr>
            <a:r>
              <a:rPr lang="en-GB" sz="1900">
                <a:latin typeface="Times New Roman"/>
                <a:ea typeface="Times New Roman"/>
                <a:cs typeface="Times New Roman"/>
                <a:sym typeface="Times New Roman"/>
              </a:rPr>
              <a:t>No verification, no revision</a:t>
            </a:r>
            <a:endParaRPr/>
          </a:p>
          <a:p>
            <a:pPr indent="-1841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pPr>
            <a:r>
              <a:rPr lang="en-GB" sz="1900">
                <a:latin typeface="Times New Roman"/>
                <a:ea typeface="Times New Roman"/>
                <a:cs typeface="Times New Roman"/>
                <a:sym typeface="Times New Roman"/>
              </a:rPr>
              <a:t>5000 queries</a:t>
            </a:r>
            <a:endParaRPr/>
          </a:p>
        </p:txBody>
      </p:sp>
      <p:graphicFrame>
        <p:nvGraphicFramePr>
          <p:cNvPr id="273" name="Google Shape;273;p36"/>
          <p:cNvGraphicFramePr/>
          <p:nvPr/>
        </p:nvGraphicFramePr>
        <p:xfrm>
          <a:off x="3605408" y="2534068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{0F354E13-5000-42DC-8ECC-7DAA22E1D1C1}</a:tableStyleId>
              </a:tblPr>
              <a:tblGrid>
                <a:gridCol w="1682525"/>
                <a:gridCol w="1682525"/>
                <a:gridCol w="1388625"/>
              </a:tblGrid>
              <a:tr h="242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b="1" lang="en-GB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Metric</a:t>
                      </a:r>
                      <a:endParaRPr b="1"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1425" marL="514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b="1" lang="en-GB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Value</a:t>
                      </a:r>
                      <a:endParaRPr b="1"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1425" marL="514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b="1" lang="en-GB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Status</a:t>
                      </a:r>
                      <a:endParaRPr b="1"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1425" marL="51425" anchor="ctr">
                    <a:solidFill>
                      <a:schemeClr val="lt2"/>
                    </a:solidFill>
                  </a:tcPr>
                </a:tc>
              </a:tr>
              <a:tr h="242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b="1" lang="en-GB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Exact Match</a:t>
                      </a:r>
                      <a:endParaRPr b="1"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1425" marL="514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GB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0.2654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1425" marL="5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GB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Baseline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1425" marL="51425" anchor="ctr"/>
                </a:tc>
              </a:tr>
              <a:tr h="389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b="1" lang="en-GB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Factual Precision</a:t>
                      </a:r>
                      <a:endParaRPr b="1"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1425" marL="514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GB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0.9078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1425" marL="5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GB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Good but not perfect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1425" marL="51425" anchor="ctr"/>
                </a:tc>
              </a:tr>
              <a:tr h="437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b="1" lang="en-GB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Hallucination Rate</a:t>
                      </a:r>
                      <a:endParaRPr b="1"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1425" marL="514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GB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9.22%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1425" marL="5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GB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 in 11 answers has errors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1425" marL="51425" anchor="ctr"/>
                </a:tc>
              </a:tr>
              <a:tr h="242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b="1" lang="en-GB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Verified F1</a:t>
                      </a:r>
                      <a:endParaRPr b="1"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1425" marL="514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GB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0.3225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1425" marL="5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GB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Baseline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1425" marL="51425" anchor="ctr"/>
                </a:tc>
              </a:tr>
              <a:tr h="389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b="1" lang="en-GB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Recall@20</a:t>
                      </a:r>
                      <a:endParaRPr b="1"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1425" marL="51425" anchor="ctr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GB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0.9744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1425" marL="51425" anchor="ctr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GB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Excellent retrieval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1425" marL="51425" anchor="ctr"/>
                </a:tc>
              </a:tr>
              <a:tr h="389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Verified Answers</a:t>
                      </a:r>
                      <a:endParaRPr b="1"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1425" marL="5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4539/5000(90.7%)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1425" marL="5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Baseline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1425" marL="5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37"/>
          <p:cNvSpPr/>
          <p:nvPr/>
        </p:nvSpPr>
        <p:spPr>
          <a:xfrm>
            <a:off x="0" y="0"/>
            <a:ext cx="9141714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37"/>
          <p:cNvSpPr/>
          <p:nvPr/>
        </p:nvSpPr>
        <p:spPr>
          <a:xfrm flipH="1" rot="5400000">
            <a:off x="-1057563" y="1057561"/>
            <a:ext cx="5143500" cy="3028377"/>
          </a:xfrm>
          <a:prstGeom prst="rect">
            <a:avLst/>
          </a:prstGeom>
          <a:gradFill>
            <a:gsLst>
              <a:gs pos="0">
                <a:srgbClr val="000000"/>
              </a:gs>
              <a:gs pos="8000">
                <a:srgbClr val="000000"/>
              </a:gs>
              <a:gs pos="100000">
                <a:srgbClr val="0F4861"/>
              </a:gs>
            </a:gsLst>
            <a:lin ang="30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37"/>
          <p:cNvSpPr/>
          <p:nvPr/>
        </p:nvSpPr>
        <p:spPr>
          <a:xfrm flipH="1" rot="5400000">
            <a:off x="-1057564" y="1065164"/>
            <a:ext cx="51434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156082">
                  <a:alpha val="45882"/>
                </a:srgbClr>
              </a:gs>
              <a:gs pos="100000">
                <a:srgbClr val="156082">
                  <a:alpha val="45882"/>
                </a:srgbClr>
              </a:gs>
            </a:gsLst>
            <a:lin ang="18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37"/>
          <p:cNvSpPr/>
          <p:nvPr/>
        </p:nvSpPr>
        <p:spPr>
          <a:xfrm flipH="1" rot="5400000">
            <a:off x="575942" y="2691064"/>
            <a:ext cx="1876484" cy="3028381"/>
          </a:xfrm>
          <a:prstGeom prst="rect">
            <a:avLst/>
          </a:prstGeom>
          <a:gradFill>
            <a:gsLst>
              <a:gs pos="0">
                <a:srgbClr val="156082">
                  <a:alpha val="28627"/>
                </a:srgbClr>
              </a:gs>
              <a:gs pos="2000">
                <a:srgbClr val="156082">
                  <a:alpha val="28627"/>
                </a:srgbClr>
              </a:gs>
              <a:gs pos="100000">
                <a:srgbClr val="000000">
                  <a:alpha val="29803"/>
                </a:srgbClr>
              </a:gs>
            </a:gsLst>
            <a:lin ang="78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37"/>
          <p:cNvSpPr/>
          <p:nvPr/>
        </p:nvSpPr>
        <p:spPr>
          <a:xfrm rot="-964587">
            <a:off x="-376303" y="727289"/>
            <a:ext cx="2925268" cy="3134218"/>
          </a:xfrm>
          <a:custGeom>
            <a:rect b="b" l="l" r="r" t="t"/>
            <a:pathLst>
              <a:path extrusionOk="0" h="4178958" w="3900357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0">
                <a:srgbClr val="000000">
                  <a:alpha val="0"/>
                </a:srgbClr>
              </a:gs>
              <a:gs pos="29000">
                <a:srgbClr val="000000">
                  <a:alpha val="0"/>
                </a:srgbClr>
              </a:gs>
              <a:gs pos="100000">
                <a:srgbClr val="156082">
                  <a:alpha val="42745"/>
                </a:srgbClr>
              </a:gs>
            </a:gsLst>
            <a:lin ang="18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37"/>
          <p:cNvSpPr/>
          <p:nvPr/>
        </p:nvSpPr>
        <p:spPr>
          <a:xfrm flipH="1" rot="5400000">
            <a:off x="-1057570" y="1049957"/>
            <a:ext cx="5143502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43AFE2">
                  <a:alpha val="10980"/>
                </a:srgbClr>
              </a:gs>
              <a:gs pos="100000">
                <a:srgbClr val="43AFE2">
                  <a:alpha val="10980"/>
                </a:srgbClr>
              </a:gs>
            </a:gsLst>
            <a:lin ang="72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37"/>
          <p:cNvSpPr txBox="1"/>
          <p:nvPr>
            <p:ph type="title"/>
          </p:nvPr>
        </p:nvSpPr>
        <p:spPr>
          <a:xfrm>
            <a:off x="350041" y="440141"/>
            <a:ext cx="2401025" cy="254062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Times New Roman"/>
              <a:buNone/>
            </a:pPr>
            <a:r>
              <a:rPr b="1" lang="en-GB" sz="3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HALO-RAG Complete Pipeline</a:t>
            </a:r>
            <a:endParaRPr sz="30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6" name="Google Shape;286;p37"/>
          <p:cNvSpPr txBox="1"/>
          <p:nvPr>
            <p:ph idx="1" type="body"/>
          </p:nvPr>
        </p:nvSpPr>
        <p:spPr>
          <a:xfrm>
            <a:off x="3605408" y="440141"/>
            <a:ext cx="5328440" cy="195330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en-GB" sz="1900">
                <a:latin typeface="Times New Roman"/>
                <a:ea typeface="Times New Roman"/>
                <a:cs typeface="Times New Roman"/>
                <a:sym typeface="Times New Roman"/>
              </a:rPr>
              <a:t>Experiment 2: Complete HALO-RAG (With Verification + Revision)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en-GB" sz="1900">
                <a:latin typeface="Times New Roman"/>
                <a:ea typeface="Times New Roman"/>
                <a:cs typeface="Times New Roman"/>
                <a:sym typeface="Times New Roman"/>
              </a:rPr>
              <a:t>Configuration: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841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pPr>
            <a:r>
              <a:rPr lang="en-GB" sz="1900">
                <a:latin typeface="Times New Roman"/>
                <a:ea typeface="Times New Roman"/>
                <a:cs typeface="Times New Roman"/>
                <a:sym typeface="Times New Roman"/>
              </a:rPr>
              <a:t>Full pipeline with adaptive revision</a:t>
            </a:r>
            <a:endParaRPr/>
          </a:p>
          <a:p>
            <a:pPr indent="-1841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pPr>
            <a:r>
              <a:rPr lang="en-GB" sz="1900">
                <a:latin typeface="Times New Roman"/>
                <a:ea typeface="Times New Roman"/>
                <a:cs typeface="Times New Roman"/>
                <a:sym typeface="Times New Roman"/>
              </a:rPr>
              <a:t>Dynamic strategy selection</a:t>
            </a:r>
            <a:endParaRPr/>
          </a:p>
          <a:p>
            <a:pPr indent="-1841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pPr>
            <a:r>
              <a:rPr lang="en-GB" sz="1900">
                <a:latin typeface="Times New Roman"/>
                <a:ea typeface="Times New Roman"/>
                <a:cs typeface="Times New Roman"/>
                <a:sym typeface="Times New Roman"/>
              </a:rPr>
              <a:t>5000 queries</a:t>
            </a:r>
            <a:endParaRPr/>
          </a:p>
        </p:txBody>
      </p:sp>
      <p:graphicFrame>
        <p:nvGraphicFramePr>
          <p:cNvPr id="287" name="Google Shape;287;p37"/>
          <p:cNvGraphicFramePr/>
          <p:nvPr/>
        </p:nvGraphicFramePr>
        <p:xfrm>
          <a:off x="3268458" y="2434590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{0F354E13-5000-42DC-8ECC-7DAA22E1D1C1}</a:tableStyleId>
              </a:tblPr>
              <a:tblGrid>
                <a:gridCol w="1538325"/>
                <a:gridCol w="1538325"/>
                <a:gridCol w="1596650"/>
                <a:gridCol w="942550"/>
              </a:tblGrid>
              <a:tr h="242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b="1" lang="en-GB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Metric</a:t>
                      </a:r>
                      <a:endParaRPr b="1"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1425" marL="514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b="1"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Baseline </a:t>
                      </a:r>
                      <a:endParaRPr b="1"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1425" marL="514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b="1" lang="en-GB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HALO - RAG</a:t>
                      </a:r>
                      <a:endParaRPr sz="1100"/>
                    </a:p>
                  </a:txBody>
                  <a:tcPr marT="0" marB="0" marR="51425" marL="514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b="1" lang="en-GB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Change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1425" marL="51425" anchor="ctr">
                    <a:solidFill>
                      <a:schemeClr val="lt2"/>
                    </a:solidFill>
                  </a:tcPr>
                </a:tc>
              </a:tr>
              <a:tr h="242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b="1" lang="en-GB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Exact Match</a:t>
                      </a:r>
                      <a:endParaRPr b="1"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1425" marL="514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GB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0.2654</a:t>
                      </a:r>
                      <a:endParaRPr sz="1100"/>
                    </a:p>
                  </a:txBody>
                  <a:tcPr marT="0" marB="0" marR="51425" marL="5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GB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0.2492</a:t>
                      </a:r>
                      <a:endParaRPr sz="1100"/>
                    </a:p>
                  </a:txBody>
                  <a:tcPr marT="0" marB="0" marR="51425" marL="5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GB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-6.1%</a:t>
                      </a:r>
                      <a:endParaRPr sz="1100"/>
                    </a:p>
                  </a:txBody>
                  <a:tcPr marT="0" marB="0" marR="51425" marL="51425" anchor="ctr"/>
                </a:tc>
              </a:tr>
              <a:tr h="389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b="1" lang="en-GB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Factual Precision</a:t>
                      </a:r>
                      <a:endParaRPr b="1"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1425" marL="514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GB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0.9078</a:t>
                      </a:r>
                      <a:endParaRPr sz="1100"/>
                    </a:p>
                  </a:txBody>
                  <a:tcPr marT="0" marB="0" marR="51425" marL="5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b="1" lang="en-GB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0.9608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1425" marL="5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b="1" lang="en-GB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+5.8%</a:t>
                      </a:r>
                      <a:r>
                        <a:rPr lang="en-GB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100"/>
                    </a:p>
                  </a:txBody>
                  <a:tcPr marT="0" marB="0" marR="51425" marL="51425" anchor="ctr"/>
                </a:tc>
              </a:tr>
              <a:tr h="437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b="1" lang="en-GB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Hallucination Rate</a:t>
                      </a:r>
                      <a:endParaRPr b="1"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1425" marL="514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GB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9.22%</a:t>
                      </a:r>
                      <a:endParaRPr sz="1100"/>
                    </a:p>
                  </a:txBody>
                  <a:tcPr marT="0" marB="0" marR="51425" marL="5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b="1" lang="en-GB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0.00%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1425" marL="5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b="1" lang="en-GB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-100%</a:t>
                      </a:r>
                      <a:r>
                        <a:rPr lang="en-GB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100"/>
                    </a:p>
                  </a:txBody>
                  <a:tcPr marT="0" marB="0" marR="51425" marL="51425" anchor="ctr"/>
                </a:tc>
              </a:tr>
              <a:tr h="242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b="1" lang="en-GB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Verified F1</a:t>
                      </a:r>
                      <a:endParaRPr b="1"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1425" marL="514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GB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0.3225</a:t>
                      </a:r>
                      <a:endParaRPr sz="1100"/>
                    </a:p>
                  </a:txBody>
                  <a:tcPr marT="0" marB="0" marR="51425" marL="5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b="1" lang="en-GB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0.3415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1425" marL="5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b="1" lang="en-GB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+5.9%</a:t>
                      </a:r>
                      <a:r>
                        <a:rPr lang="en-GB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100"/>
                    </a:p>
                  </a:txBody>
                  <a:tcPr marT="0" marB="0" marR="51425" marL="51425" anchor="ctr"/>
                </a:tc>
              </a:tr>
              <a:tr h="389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b="1" lang="en-GB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Recall@20</a:t>
                      </a:r>
                      <a:endParaRPr b="1"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1425" marL="514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GB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0.02%</a:t>
                      </a:r>
                      <a:endParaRPr sz="1100"/>
                    </a:p>
                  </a:txBody>
                  <a:tcPr marT="0" marB="0" marR="51425" marL="5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GB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3.92%</a:t>
                      </a:r>
                      <a:endParaRPr sz="1100"/>
                    </a:p>
                  </a:txBody>
                  <a:tcPr marT="0" marB="0" marR="51425" marL="5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GB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+3.9%</a:t>
                      </a:r>
                      <a:endParaRPr sz="1100"/>
                    </a:p>
                  </a:txBody>
                  <a:tcPr marT="0" marB="0" marR="51425" marL="51425" anchor="ctr"/>
                </a:tc>
              </a:tr>
              <a:tr h="389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Verified Answers</a:t>
                      </a:r>
                      <a:endParaRPr b="1"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1425" marL="514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4539/5000(90.7%)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1425" marL="5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4804/5000(96.1%)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1425" marL="5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+5.4%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1425" marL="5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38"/>
          <p:cNvSpPr/>
          <p:nvPr/>
        </p:nvSpPr>
        <p:spPr>
          <a:xfrm>
            <a:off x="0" y="0"/>
            <a:ext cx="9141714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38"/>
          <p:cNvSpPr/>
          <p:nvPr/>
        </p:nvSpPr>
        <p:spPr>
          <a:xfrm flipH="1" rot="5400000">
            <a:off x="-1057563" y="1057561"/>
            <a:ext cx="5143500" cy="3028377"/>
          </a:xfrm>
          <a:prstGeom prst="rect">
            <a:avLst/>
          </a:prstGeom>
          <a:gradFill>
            <a:gsLst>
              <a:gs pos="0">
                <a:srgbClr val="000000"/>
              </a:gs>
              <a:gs pos="8000">
                <a:srgbClr val="000000"/>
              </a:gs>
              <a:gs pos="100000">
                <a:srgbClr val="0F4861"/>
              </a:gs>
            </a:gsLst>
            <a:lin ang="30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38"/>
          <p:cNvSpPr/>
          <p:nvPr/>
        </p:nvSpPr>
        <p:spPr>
          <a:xfrm flipH="1" rot="5400000">
            <a:off x="-1057564" y="1065164"/>
            <a:ext cx="51434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156082">
                  <a:alpha val="45882"/>
                </a:srgbClr>
              </a:gs>
              <a:gs pos="100000">
                <a:srgbClr val="156082">
                  <a:alpha val="45882"/>
                </a:srgbClr>
              </a:gs>
            </a:gsLst>
            <a:lin ang="18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38"/>
          <p:cNvSpPr/>
          <p:nvPr/>
        </p:nvSpPr>
        <p:spPr>
          <a:xfrm flipH="1" rot="5400000">
            <a:off x="575942" y="2691064"/>
            <a:ext cx="1876484" cy="3028381"/>
          </a:xfrm>
          <a:prstGeom prst="rect">
            <a:avLst/>
          </a:prstGeom>
          <a:gradFill>
            <a:gsLst>
              <a:gs pos="0">
                <a:srgbClr val="156082">
                  <a:alpha val="28627"/>
                </a:srgbClr>
              </a:gs>
              <a:gs pos="2000">
                <a:srgbClr val="156082">
                  <a:alpha val="28627"/>
                </a:srgbClr>
              </a:gs>
              <a:gs pos="100000">
                <a:srgbClr val="000000">
                  <a:alpha val="29803"/>
                </a:srgbClr>
              </a:gs>
            </a:gsLst>
            <a:lin ang="78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38"/>
          <p:cNvSpPr/>
          <p:nvPr/>
        </p:nvSpPr>
        <p:spPr>
          <a:xfrm rot="-964587">
            <a:off x="-376303" y="727289"/>
            <a:ext cx="2925268" cy="3134218"/>
          </a:xfrm>
          <a:custGeom>
            <a:rect b="b" l="l" r="r" t="t"/>
            <a:pathLst>
              <a:path extrusionOk="0" h="4178958" w="3900357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0">
                <a:srgbClr val="000000">
                  <a:alpha val="0"/>
                </a:srgbClr>
              </a:gs>
              <a:gs pos="29000">
                <a:srgbClr val="000000">
                  <a:alpha val="0"/>
                </a:srgbClr>
              </a:gs>
              <a:gs pos="100000">
                <a:srgbClr val="156082">
                  <a:alpha val="42745"/>
                </a:srgbClr>
              </a:gs>
            </a:gsLst>
            <a:lin ang="18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38"/>
          <p:cNvSpPr/>
          <p:nvPr/>
        </p:nvSpPr>
        <p:spPr>
          <a:xfrm flipH="1" rot="5400000">
            <a:off x="-1057570" y="1049957"/>
            <a:ext cx="5143502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43AFE2">
                  <a:alpha val="10980"/>
                </a:srgbClr>
              </a:gs>
              <a:gs pos="100000">
                <a:srgbClr val="43AFE2">
                  <a:alpha val="10980"/>
                </a:srgbClr>
              </a:gs>
            </a:gsLst>
            <a:lin ang="72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38"/>
          <p:cNvSpPr txBox="1"/>
          <p:nvPr>
            <p:ph type="title"/>
          </p:nvPr>
        </p:nvSpPr>
        <p:spPr>
          <a:xfrm>
            <a:off x="350041" y="440141"/>
            <a:ext cx="2401025" cy="254062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Times New Roman"/>
              <a:buNone/>
            </a:pPr>
            <a:r>
              <a:rPr b="1" lang="en-GB" sz="3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Baseline vs HALO-RAG Comparison</a:t>
            </a:r>
            <a:endParaRPr sz="30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0" name="Google Shape;300;p38"/>
          <p:cNvSpPr txBox="1"/>
          <p:nvPr>
            <p:ph idx="1" type="body"/>
          </p:nvPr>
        </p:nvSpPr>
        <p:spPr>
          <a:xfrm>
            <a:off x="3607694" y="440142"/>
            <a:ext cx="4944232" cy="4206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77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GB" sz="1800">
                <a:latin typeface="Times New Roman"/>
                <a:ea typeface="Times New Roman"/>
                <a:cs typeface="Times New Roman"/>
                <a:sym typeface="Times New Roman"/>
              </a:rPr>
              <a:t>Key Findings: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482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✔"/>
            </a:pPr>
            <a:r>
              <a:rPr b="1" lang="en-GB" sz="1800">
                <a:latin typeface="Times New Roman"/>
                <a:ea typeface="Times New Roman"/>
                <a:cs typeface="Times New Roman"/>
                <a:sym typeface="Times New Roman"/>
              </a:rPr>
              <a:t>Complete Hallucination Elimination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482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Baseline: 9.22% hallucination → HALO-RAG: </a:t>
            </a:r>
            <a:r>
              <a:rPr b="1" lang="en-GB" sz="1800">
                <a:latin typeface="Times New Roman"/>
                <a:ea typeface="Times New Roman"/>
                <a:cs typeface="Times New Roman"/>
                <a:sym typeface="Times New Roman"/>
              </a:rPr>
              <a:t>0.00%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482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GB" sz="1800">
                <a:latin typeface="Times New Roman"/>
                <a:ea typeface="Times New Roman"/>
                <a:cs typeface="Times New Roman"/>
                <a:sym typeface="Times New Roman"/>
              </a:rPr>
              <a:t>461 hallucinated answers caught and corrected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482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✔"/>
            </a:pPr>
            <a:r>
              <a:rPr b="1" lang="en-GB" sz="1800">
                <a:latin typeface="Times New Roman"/>
                <a:ea typeface="Times New Roman"/>
                <a:cs typeface="Times New Roman"/>
                <a:sym typeface="Times New Roman"/>
              </a:rPr>
              <a:t>Improved Factuality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482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Factual Precision: 90.78% → </a:t>
            </a:r>
            <a:r>
              <a:rPr b="1" lang="en-GB" sz="1800">
                <a:latin typeface="Times New Roman"/>
                <a:ea typeface="Times New Roman"/>
                <a:cs typeface="Times New Roman"/>
                <a:sym typeface="Times New Roman"/>
              </a:rPr>
              <a:t>96.08%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 (+5.3 points)</a:t>
            </a:r>
            <a:endParaRPr/>
          </a:p>
          <a:p>
            <a:pPr indent="-177482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Verified F1: 0.3225 → </a:t>
            </a:r>
            <a:r>
              <a:rPr b="1" lang="en-GB" sz="1800">
                <a:latin typeface="Times New Roman"/>
                <a:ea typeface="Times New Roman"/>
                <a:cs typeface="Times New Roman"/>
                <a:sym typeface="Times New Roman"/>
              </a:rPr>
              <a:t>0.3415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 (+5.9% improvement)</a:t>
            </a:r>
            <a:endParaRPr/>
          </a:p>
          <a:p>
            <a:pPr indent="-177482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✔"/>
            </a:pPr>
            <a:r>
              <a:rPr b="1" lang="en-GB" sz="1800">
                <a:latin typeface="Times New Roman"/>
                <a:ea typeface="Times New Roman"/>
                <a:cs typeface="Times New Roman"/>
                <a:sym typeface="Times New Roman"/>
              </a:rPr>
              <a:t>Trade-offs: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482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Slight F1/EM decrease (-4.6%, -6.1%)</a:t>
            </a:r>
            <a:endParaRPr/>
          </a:p>
          <a:p>
            <a:pPr indent="-177482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Small increase in abstention (3.92%)</a:t>
            </a:r>
            <a:endParaRPr/>
          </a:p>
          <a:p>
            <a:pPr indent="-177482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Minimal computational overhead (0.09 avg iterations)</a:t>
            </a:r>
            <a:endParaRPr/>
          </a:p>
          <a:p>
            <a:pPr indent="-177482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✔"/>
            </a:pPr>
            <a:r>
              <a:rPr b="1" lang="en-GB" sz="1800">
                <a:latin typeface="Times New Roman"/>
                <a:ea typeface="Times New Roman"/>
                <a:cs typeface="Times New Roman"/>
                <a:sym typeface="Times New Roman"/>
              </a:rPr>
              <a:t>Why F1 decreased slightly?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482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More conservative generation</a:t>
            </a:r>
            <a:endParaRPr/>
          </a:p>
          <a:p>
            <a:pPr indent="-177482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Abstain when insufficient evidence (3.92% of cases)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GB" sz="1800">
                <a:latin typeface="Times New Roman"/>
                <a:ea typeface="Times New Roman"/>
                <a:cs typeface="Times New Roman"/>
                <a:sym typeface="Times New Roman"/>
              </a:rPr>
              <a:t>Quality over quantity: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 Better to abstain than hallucinate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GB" sz="1800">
                <a:latin typeface="Times New Roman"/>
                <a:ea typeface="Times New Roman"/>
                <a:cs typeface="Times New Roman"/>
                <a:sym typeface="Times New Roman"/>
              </a:rPr>
              <a:t>Overall: Net positive - factuality gain &gt;&gt; quality loss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39"/>
          <p:cNvSpPr/>
          <p:nvPr/>
        </p:nvSpPr>
        <p:spPr>
          <a:xfrm flipH="1">
            <a:off x="1" y="0"/>
            <a:ext cx="9143999" cy="1181966"/>
          </a:xfrm>
          <a:prstGeom prst="rect">
            <a:avLst/>
          </a:prstGeom>
          <a:gradFill>
            <a:gsLst>
              <a:gs pos="0">
                <a:srgbClr val="000000">
                  <a:alpha val="95686"/>
                </a:srgbClr>
              </a:gs>
              <a:gs pos="100000">
                <a:srgbClr val="0F4861"/>
              </a:gs>
            </a:gsLst>
            <a:lin ang="84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39"/>
          <p:cNvSpPr/>
          <p:nvPr/>
        </p:nvSpPr>
        <p:spPr>
          <a:xfrm flipH="1" rot="10800000">
            <a:off x="6096643" y="0"/>
            <a:ext cx="3047357" cy="1182309"/>
          </a:xfrm>
          <a:prstGeom prst="rect">
            <a:avLst/>
          </a:prstGeom>
          <a:gradFill>
            <a:gsLst>
              <a:gs pos="0">
                <a:srgbClr val="0A3041">
                  <a:alpha val="67843"/>
                </a:srgbClr>
              </a:gs>
              <a:gs pos="19000">
                <a:srgbClr val="0A3041">
                  <a:alpha val="67843"/>
                </a:srgbClr>
              </a:gs>
              <a:gs pos="100000">
                <a:srgbClr val="156082">
                  <a:alpha val="78823"/>
                </a:srgbClr>
              </a:gs>
            </a:gsLst>
            <a:lin ang="19199999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39"/>
          <p:cNvSpPr/>
          <p:nvPr/>
        </p:nvSpPr>
        <p:spPr>
          <a:xfrm rot="5400000">
            <a:off x="3980833" y="-3980833"/>
            <a:ext cx="1182335" cy="9144002"/>
          </a:xfrm>
          <a:prstGeom prst="rect">
            <a:avLst/>
          </a:prstGeom>
          <a:gradFill>
            <a:gsLst>
              <a:gs pos="0">
                <a:srgbClr val="156082">
                  <a:alpha val="0"/>
                </a:srgbClr>
              </a:gs>
              <a:gs pos="23000">
                <a:srgbClr val="156082">
                  <a:alpha val="0"/>
                </a:srgbClr>
              </a:gs>
              <a:gs pos="99000">
                <a:srgbClr val="000000">
                  <a:alpha val="73725"/>
                </a:srgbClr>
              </a:gs>
              <a:gs pos="100000">
                <a:srgbClr val="000000">
                  <a:alpha val="73725"/>
                </a:srgbClr>
              </a:gs>
            </a:gsLst>
            <a:lin ang="20399999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39"/>
          <p:cNvSpPr txBox="1"/>
          <p:nvPr>
            <p:ph type="title"/>
          </p:nvPr>
        </p:nvSpPr>
        <p:spPr>
          <a:xfrm>
            <a:off x="1028698" y="261649"/>
            <a:ext cx="7533017" cy="65829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Times New Roman"/>
              <a:buNone/>
            </a:pPr>
            <a:r>
              <a:rPr b="1" lang="en-GB" sz="3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Experiment 3: </a:t>
            </a:r>
            <a:r>
              <a:rPr b="1" lang="en-GB" sz="3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Revision Strategy Comparison</a:t>
            </a:r>
            <a:endParaRPr sz="30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310" name="Google Shape;310;p39"/>
          <p:cNvGraphicFramePr/>
          <p:nvPr/>
        </p:nvGraphicFramePr>
        <p:xfrm>
          <a:off x="483042" y="202858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{4B8F1B9E-3746-4A46-B8E3-A1BFCDC618B7}</a:tableStyleId>
              </a:tblPr>
              <a:tblGrid>
                <a:gridCol w="2293175"/>
                <a:gridCol w="1261275"/>
                <a:gridCol w="1779650"/>
                <a:gridCol w="1463625"/>
                <a:gridCol w="1398100"/>
              </a:tblGrid>
              <a:tr h="602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GB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Strategy</a:t>
                      </a:r>
                      <a:endParaRPr b="0" i="0" sz="2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275" marB="0" marR="88475" marL="884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GB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Verified F1</a:t>
                      </a:r>
                      <a:endParaRPr b="0" i="0" sz="2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275" marB="0" marR="88475" marL="884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GB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Factual Precision</a:t>
                      </a:r>
                      <a:endParaRPr b="0" i="0" sz="2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275" marB="0" marR="88475" marL="884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GB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Hallucination Rate</a:t>
                      </a:r>
                      <a:endParaRPr b="0" i="0" sz="2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275" marB="0" marR="88475" marL="884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GB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Exact Match</a:t>
                      </a:r>
                      <a:endParaRPr b="0" i="0" sz="2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275" marB="0" marR="88475" marL="884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GB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Baseline (No Revision)</a:t>
                      </a:r>
                      <a:endParaRPr b="0" i="0" sz="2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275" marB="0" marR="88475" marL="884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GB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0.3667</a:t>
                      </a:r>
                      <a:endParaRPr b="0" i="0" sz="2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275" marB="0" marR="88475" marL="884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GB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0.9787</a:t>
                      </a:r>
                      <a:endParaRPr b="0" i="0" sz="2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275" marB="0" marR="88475" marL="884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GB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2.13%</a:t>
                      </a:r>
                      <a:endParaRPr b="0" i="0" sz="2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275" marB="0" marR="88475" marL="884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GB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0.2950</a:t>
                      </a:r>
                      <a:endParaRPr b="0" i="0" sz="2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275" marB="0" marR="88475" marL="884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GB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RE_RETRIEVAL</a:t>
                      </a:r>
                      <a:endParaRPr b="0" i="0" sz="2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275" marB="0" marR="88475" marL="884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GB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0.3747</a:t>
                      </a:r>
                      <a:endParaRPr b="0" i="0" sz="2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275" marB="0" marR="88475" marL="884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GB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0.9990</a:t>
                      </a:r>
                      <a:endParaRPr b="0" i="0" sz="2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275" marB="0" marR="88475" marL="884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GB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0.00%</a:t>
                      </a:r>
                      <a:endParaRPr b="0" i="0" sz="2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275" marB="0" marR="88475" marL="884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GB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0.3040</a:t>
                      </a:r>
                      <a:endParaRPr b="0" i="0" sz="2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275" marB="0" marR="88475" marL="884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GB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CONSTRAINED_GEN</a:t>
                      </a:r>
                      <a:endParaRPr b="0" i="0" sz="2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275" marB="0" marR="88475" marL="884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GB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0.3755</a:t>
                      </a:r>
                      <a:endParaRPr b="0" i="0" sz="2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275" marB="0" marR="88475" marL="884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GB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0.9990</a:t>
                      </a:r>
                      <a:endParaRPr b="0" i="0" sz="2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275" marB="0" marR="88475" marL="884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GB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0.00%</a:t>
                      </a:r>
                      <a:endParaRPr b="0" i="0" sz="2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275" marB="0" marR="88475" marL="884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GB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0.2990</a:t>
                      </a:r>
                      <a:endParaRPr b="0" i="0" sz="2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275" marB="0" marR="88475" marL="884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GB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CLAIM_BY_CLAIM</a:t>
                      </a:r>
                      <a:endParaRPr b="0" i="0" sz="2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275" marB="0" marR="88475" marL="884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GB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0.3739</a:t>
                      </a:r>
                      <a:endParaRPr b="0" i="0" sz="2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275" marB="0" marR="88475" marL="884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GB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0.9990</a:t>
                      </a:r>
                      <a:endParaRPr b="0" i="0" sz="2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275" marB="0" marR="88475" marL="884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GB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0.00%</a:t>
                      </a:r>
                      <a:endParaRPr b="0" i="0" sz="2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275" marB="0" marR="88475" marL="884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GB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0.3010</a:t>
                      </a:r>
                      <a:endParaRPr b="0" i="0" sz="2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275" marB="0" marR="88475" marL="884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GB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Dynamic (Adaptive)</a:t>
                      </a:r>
                      <a:endParaRPr b="0" i="0" sz="2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275" marB="0" marR="88475" marL="884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GB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0.3747</a:t>
                      </a:r>
                      <a:endParaRPr b="0" i="0" sz="2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275" marB="0" marR="88475" marL="884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GB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0.9990</a:t>
                      </a:r>
                      <a:endParaRPr b="0" i="0" sz="2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275" marB="0" marR="88475" marL="884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GB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0.00%</a:t>
                      </a:r>
                      <a:endParaRPr b="0" i="0" sz="2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275" marB="0" marR="88475" marL="884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GB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0.3040</a:t>
                      </a:r>
                      <a:endParaRPr b="0" i="0" sz="2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275" marB="0" marR="88475" marL="884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40"/>
          <p:cNvSpPr/>
          <p:nvPr/>
        </p:nvSpPr>
        <p:spPr>
          <a:xfrm>
            <a:off x="0" y="0"/>
            <a:ext cx="9141714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40"/>
          <p:cNvSpPr/>
          <p:nvPr/>
        </p:nvSpPr>
        <p:spPr>
          <a:xfrm flipH="1" rot="5400000">
            <a:off x="-1057563" y="1057561"/>
            <a:ext cx="5143500" cy="3028377"/>
          </a:xfrm>
          <a:prstGeom prst="rect">
            <a:avLst/>
          </a:prstGeom>
          <a:gradFill>
            <a:gsLst>
              <a:gs pos="0">
                <a:srgbClr val="000000"/>
              </a:gs>
              <a:gs pos="8000">
                <a:srgbClr val="000000"/>
              </a:gs>
              <a:gs pos="100000">
                <a:srgbClr val="0F4861"/>
              </a:gs>
            </a:gsLst>
            <a:lin ang="30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40"/>
          <p:cNvSpPr/>
          <p:nvPr/>
        </p:nvSpPr>
        <p:spPr>
          <a:xfrm flipH="1" rot="5400000">
            <a:off x="-1057564" y="1065164"/>
            <a:ext cx="51434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156082">
                  <a:alpha val="45882"/>
                </a:srgbClr>
              </a:gs>
              <a:gs pos="100000">
                <a:srgbClr val="156082">
                  <a:alpha val="45882"/>
                </a:srgbClr>
              </a:gs>
            </a:gsLst>
            <a:lin ang="18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40"/>
          <p:cNvSpPr/>
          <p:nvPr/>
        </p:nvSpPr>
        <p:spPr>
          <a:xfrm flipH="1" rot="5400000">
            <a:off x="575942" y="2691064"/>
            <a:ext cx="1876484" cy="3028381"/>
          </a:xfrm>
          <a:prstGeom prst="rect">
            <a:avLst/>
          </a:prstGeom>
          <a:gradFill>
            <a:gsLst>
              <a:gs pos="0">
                <a:srgbClr val="156082">
                  <a:alpha val="28627"/>
                </a:srgbClr>
              </a:gs>
              <a:gs pos="2000">
                <a:srgbClr val="156082">
                  <a:alpha val="28627"/>
                </a:srgbClr>
              </a:gs>
              <a:gs pos="100000">
                <a:srgbClr val="000000">
                  <a:alpha val="29803"/>
                </a:srgbClr>
              </a:gs>
            </a:gsLst>
            <a:lin ang="78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40"/>
          <p:cNvSpPr/>
          <p:nvPr/>
        </p:nvSpPr>
        <p:spPr>
          <a:xfrm rot="-964587">
            <a:off x="-376303" y="727289"/>
            <a:ext cx="2925268" cy="3134218"/>
          </a:xfrm>
          <a:custGeom>
            <a:rect b="b" l="l" r="r" t="t"/>
            <a:pathLst>
              <a:path extrusionOk="0" h="4178958" w="3900357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0">
                <a:srgbClr val="000000">
                  <a:alpha val="0"/>
                </a:srgbClr>
              </a:gs>
              <a:gs pos="29000">
                <a:srgbClr val="000000">
                  <a:alpha val="0"/>
                </a:srgbClr>
              </a:gs>
              <a:gs pos="100000">
                <a:srgbClr val="156082">
                  <a:alpha val="42745"/>
                </a:srgbClr>
              </a:gs>
            </a:gsLst>
            <a:lin ang="18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40"/>
          <p:cNvSpPr/>
          <p:nvPr/>
        </p:nvSpPr>
        <p:spPr>
          <a:xfrm flipH="1" rot="5400000">
            <a:off x="-1057570" y="1049957"/>
            <a:ext cx="5143502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43AFE2">
                  <a:alpha val="10980"/>
                </a:srgbClr>
              </a:gs>
              <a:gs pos="100000">
                <a:srgbClr val="43AFE2">
                  <a:alpha val="10980"/>
                </a:srgbClr>
              </a:gs>
            </a:gsLst>
            <a:lin ang="72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40"/>
          <p:cNvSpPr txBox="1"/>
          <p:nvPr>
            <p:ph type="title"/>
          </p:nvPr>
        </p:nvSpPr>
        <p:spPr>
          <a:xfrm>
            <a:off x="350041" y="440141"/>
            <a:ext cx="2401025" cy="254062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imes New Roman"/>
              <a:buNone/>
            </a:pPr>
            <a:r>
              <a:rPr b="1" lang="en-GB" sz="2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Conclusion:</a:t>
            </a:r>
            <a:endParaRPr b="1" sz="2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imes New Roman"/>
              <a:buNone/>
            </a:pPr>
            <a:r>
              <a:rPr b="1" lang="en-GB" sz="2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Achievements &amp; Metrics</a:t>
            </a:r>
            <a:endParaRPr sz="2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3" name="Google Shape;323;p40"/>
          <p:cNvSpPr txBox="1"/>
          <p:nvPr>
            <p:ph idx="1" type="body"/>
          </p:nvPr>
        </p:nvSpPr>
        <p:spPr>
          <a:xfrm>
            <a:off x="3607700" y="128825"/>
            <a:ext cx="5022000" cy="48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77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64705"/>
              <a:buFont typeface="Arial"/>
              <a:buNone/>
            </a:pPr>
            <a:r>
              <a:rPr b="1" lang="en-GB" sz="1700">
                <a:latin typeface="Times New Roman"/>
                <a:ea typeface="Times New Roman"/>
                <a:cs typeface="Times New Roman"/>
                <a:sym typeface="Times New Roman"/>
              </a:rPr>
              <a:t>RQ1: Can we quantify hallucination probabilities with transparency?</a:t>
            </a:r>
            <a:endParaRPr b="1"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4705"/>
              <a:buFont typeface="Arial"/>
              <a:buNone/>
            </a:pPr>
            <a:r>
              <a:rPr b="1" lang="en-GB" sz="1700">
                <a:latin typeface="Times New Roman"/>
                <a:ea typeface="Times New Roman"/>
                <a:cs typeface="Times New Roman"/>
                <a:sym typeface="Times New Roman"/>
              </a:rPr>
              <a:t>YES</a:t>
            </a:r>
            <a:r>
              <a:rPr lang="en-GB" sz="17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700">
                <a:latin typeface="Times New Roman"/>
                <a:ea typeface="Times New Roman"/>
                <a:cs typeface="Times New Roman"/>
                <a:sym typeface="Times New Roman"/>
              </a:rPr>
              <a:t>- Achieved through: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2733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64705"/>
              <a:buChar char="●"/>
            </a:pPr>
            <a:r>
              <a:rPr lang="en-GB" sz="1700">
                <a:latin typeface="Times New Roman"/>
                <a:ea typeface="Times New Roman"/>
                <a:cs typeface="Times New Roman"/>
                <a:sym typeface="Times New Roman"/>
              </a:rPr>
              <a:t>Claim-level verification with explicit support/contradiction/insufficient evidence scores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273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64705"/>
              <a:buChar char="●"/>
            </a:pPr>
            <a:r>
              <a:rPr lang="en-GB" sz="1700">
                <a:latin typeface="Times New Roman"/>
                <a:ea typeface="Times New Roman"/>
                <a:cs typeface="Times New Roman"/>
                <a:sym typeface="Times New Roman"/>
              </a:rPr>
              <a:t>Transparent abstention: 3.92% of answers appropriately refused when unverifiable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273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64705"/>
              <a:buChar char="●"/>
            </a:pPr>
            <a:r>
              <a:rPr lang="en-GB" sz="1700">
                <a:latin typeface="Times New Roman"/>
                <a:ea typeface="Times New Roman"/>
                <a:cs typeface="Times New Roman"/>
                <a:sym typeface="Times New Roman"/>
              </a:rPr>
              <a:t>Real-time verification signals during generation (96.1% verified vs 3.92% abstained)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64705"/>
              <a:buFont typeface="Arial"/>
              <a:buNone/>
            </a:pPr>
            <a:r>
              <a:rPr b="1" lang="en-GB" sz="1700">
                <a:latin typeface="Times New Roman"/>
                <a:ea typeface="Times New Roman"/>
                <a:cs typeface="Times New Roman"/>
                <a:sym typeface="Times New Roman"/>
              </a:rPr>
              <a:t>RQ2: Can we achieve zero hallucination without sacrificing quality?</a:t>
            </a:r>
            <a:endParaRPr b="1"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4705"/>
              <a:buFont typeface="Arial"/>
              <a:buNone/>
            </a:pPr>
            <a:r>
              <a:rPr b="1" lang="en-GB" sz="1700">
                <a:latin typeface="Times New Roman"/>
                <a:ea typeface="Times New Roman"/>
                <a:cs typeface="Times New Roman"/>
                <a:sym typeface="Times New Roman"/>
              </a:rPr>
              <a:t>YES</a:t>
            </a:r>
            <a:r>
              <a:rPr lang="en-GB" sz="1700">
                <a:latin typeface="Times New Roman"/>
                <a:ea typeface="Times New Roman"/>
                <a:cs typeface="Times New Roman"/>
                <a:sym typeface="Times New Roman"/>
              </a:rPr>
              <a:t> - Zero hallucination with quality improvement: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2733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64705"/>
              <a:buChar char="●"/>
            </a:pPr>
            <a:r>
              <a:rPr lang="en-GB" sz="1700">
                <a:latin typeface="Times New Roman"/>
                <a:ea typeface="Times New Roman"/>
                <a:cs typeface="Times New Roman"/>
                <a:sym typeface="Times New Roman"/>
              </a:rPr>
              <a:t>Hallucination: 9.22% → 0% (goal: ≤10%)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273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64705"/>
              <a:buChar char="●"/>
            </a:pPr>
            <a:r>
              <a:rPr lang="en-GB" sz="1700">
                <a:latin typeface="Times New Roman"/>
                <a:ea typeface="Times New Roman"/>
                <a:cs typeface="Times New Roman"/>
                <a:sym typeface="Times New Roman"/>
              </a:rPr>
              <a:t>Verified F1: +5.9% improvement (0.3225 → 0.3415)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273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64705"/>
              <a:buChar char="●"/>
            </a:pPr>
            <a:r>
              <a:rPr lang="en-GB" sz="1700">
                <a:latin typeface="Times New Roman"/>
                <a:ea typeface="Times New Roman"/>
                <a:cs typeface="Times New Roman"/>
                <a:sym typeface="Times New Roman"/>
              </a:rPr>
              <a:t>Factual Precision: +5.8% improvement (90.78% → 96.08%)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GB" sz="1700">
                <a:latin typeface="Times New Roman"/>
                <a:ea typeface="Times New Roman"/>
                <a:cs typeface="Times New Roman"/>
                <a:sym typeface="Times New Roman"/>
              </a:rPr>
              <a:t>RQ3:</a:t>
            </a:r>
            <a:r>
              <a:rPr lang="en-GB" sz="17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GB" sz="1700">
                <a:latin typeface="Times New Roman"/>
                <a:ea typeface="Times New Roman"/>
                <a:cs typeface="Times New Roman"/>
                <a:sym typeface="Times New Roman"/>
              </a:rPr>
              <a:t>Which revision strategy is most effective?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GB" sz="1700">
                <a:latin typeface="Times New Roman"/>
                <a:ea typeface="Times New Roman"/>
                <a:cs typeface="Times New Roman"/>
                <a:sym typeface="Times New Roman"/>
              </a:rPr>
              <a:t>All strategies achieve zero hallucination. CONSTRAINED_GENERATION</a:t>
            </a:r>
            <a:r>
              <a:rPr lang="en-GB" sz="1700">
                <a:latin typeface="Times New Roman"/>
                <a:ea typeface="Times New Roman"/>
                <a:cs typeface="Times New Roman"/>
                <a:sym typeface="Times New Roman"/>
              </a:rPr>
              <a:t> for Verified F1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None/>
            </a:pPr>
            <a:r>
              <a:rPr b="1" lang="en-GB" sz="3000">
                <a:latin typeface="Times New Roman"/>
                <a:ea typeface="Times New Roman"/>
                <a:cs typeface="Times New Roman"/>
                <a:sym typeface="Times New Roman"/>
              </a:rPr>
              <a:t>Limitations &amp; Future Work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9" name="Google Shape;329;p41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b="1" lang="en-GB" sz="1500">
                <a:latin typeface="Times New Roman"/>
                <a:ea typeface="Times New Roman"/>
                <a:cs typeface="Times New Roman"/>
                <a:sym typeface="Times New Roman"/>
              </a:rPr>
              <a:t>Current Limitations: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b="1" lang="en-GB" sz="1500">
                <a:latin typeface="Times New Roman"/>
                <a:ea typeface="Times New Roman"/>
                <a:cs typeface="Times New Roman"/>
                <a:sym typeface="Times New Roman"/>
              </a:rPr>
              <a:t>1. Verified F1 Below Original Target (0.52)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Achieved 0.3415 vs target 0.52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b="1" lang="en-GB" sz="1500">
                <a:latin typeface="Times New Roman"/>
                <a:ea typeface="Times New Roman"/>
                <a:cs typeface="Times New Roman"/>
                <a:sym typeface="Times New Roman"/>
              </a:rPr>
              <a:t>2. Small Abstention Rate (3.92%)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b="1" lang="en-GB" sz="1500">
                <a:latin typeface="Times New Roman"/>
                <a:ea typeface="Times New Roman"/>
                <a:cs typeface="Times New Roman"/>
                <a:sym typeface="Times New Roman"/>
              </a:rPr>
              <a:t>3. Limited to Extractive QA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Tested on SQuAD v2 (short answer QA)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b="1" lang="en-GB" sz="1500">
                <a:latin typeface="Times New Roman"/>
                <a:ea typeface="Times New Roman"/>
                <a:cs typeface="Times New Roman"/>
                <a:sym typeface="Times New Roman"/>
              </a:rPr>
              <a:t>4. Single-domain Evaluation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Wikipedia corpus only, Generalization to other domains unclear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t/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t/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0" name="Google Shape;330;p4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b="1" lang="en-GB" sz="1500">
                <a:latin typeface="Times New Roman"/>
                <a:ea typeface="Times New Roman"/>
                <a:cs typeface="Times New Roman"/>
                <a:sym typeface="Times New Roman"/>
              </a:rPr>
              <a:t>Future Work: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b="1" lang="en-GB" sz="1500">
                <a:latin typeface="Times New Roman"/>
                <a:ea typeface="Times New Roman"/>
                <a:cs typeface="Times New Roman"/>
                <a:sym typeface="Times New Roman"/>
              </a:rPr>
              <a:t>Larger Models:</a:t>
            </a: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 Test with Llama-2, Mistral for better generation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b="1" lang="en-GB" sz="1500">
                <a:latin typeface="Times New Roman"/>
                <a:ea typeface="Times New Roman"/>
                <a:cs typeface="Times New Roman"/>
                <a:sym typeface="Times New Roman"/>
              </a:rPr>
              <a:t>Multi-hop QA:</a:t>
            </a: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 Evaluate on HotpotQA for complex reasoning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b="1" lang="en-GB" sz="1500">
                <a:latin typeface="Times New Roman"/>
                <a:ea typeface="Times New Roman"/>
                <a:cs typeface="Times New Roman"/>
                <a:sym typeface="Times New Roman"/>
              </a:rPr>
              <a:t>Human Evaluation:</a:t>
            </a: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 Validate automatic verification with annotators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b="1" lang="en-GB" sz="1500">
                <a:latin typeface="Times New Roman"/>
                <a:ea typeface="Times New Roman"/>
                <a:cs typeface="Times New Roman"/>
                <a:sym typeface="Times New Roman"/>
              </a:rPr>
              <a:t>Multi-domain Generalization:</a:t>
            </a: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 Scientific papers, legal documents, medical texts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b="1" lang="en-GB" sz="1500">
                <a:latin typeface="Times New Roman"/>
                <a:ea typeface="Times New Roman"/>
                <a:cs typeface="Times New Roman"/>
                <a:sym typeface="Times New Roman"/>
              </a:rPr>
              <a:t>Real-time Systems:</a:t>
            </a: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 Optimize for production deployment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b="1" lang="en-GB" sz="1500">
                <a:latin typeface="Times New Roman"/>
                <a:ea typeface="Times New Roman"/>
                <a:cs typeface="Times New Roman"/>
                <a:sym typeface="Times New Roman"/>
              </a:rPr>
              <a:t>Explainable Verification:</a:t>
            </a: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 Show users which claims are verified vs uncertain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4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42"/>
          <p:cNvSpPr/>
          <p:nvPr/>
        </p:nvSpPr>
        <p:spPr>
          <a:xfrm>
            <a:off x="0" y="0"/>
            <a:ext cx="91416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42"/>
          <p:cNvSpPr/>
          <p:nvPr/>
        </p:nvSpPr>
        <p:spPr>
          <a:xfrm flipH="1" rot="5400000">
            <a:off x="-1057624" y="1057500"/>
            <a:ext cx="5143500" cy="3028500"/>
          </a:xfrm>
          <a:prstGeom prst="rect">
            <a:avLst/>
          </a:prstGeom>
          <a:gradFill>
            <a:gsLst>
              <a:gs pos="0">
                <a:srgbClr val="000000"/>
              </a:gs>
              <a:gs pos="8000">
                <a:srgbClr val="000000"/>
              </a:gs>
              <a:gs pos="100000">
                <a:srgbClr val="0F4861"/>
              </a:gs>
            </a:gsLst>
            <a:lin ang="3000122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42"/>
          <p:cNvSpPr/>
          <p:nvPr/>
        </p:nvSpPr>
        <p:spPr>
          <a:xfrm flipH="1" rot="5400000">
            <a:off x="-1057624" y="1065104"/>
            <a:ext cx="5143500" cy="30285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156082">
                  <a:alpha val="45882"/>
                </a:srgbClr>
              </a:gs>
              <a:gs pos="100000">
                <a:srgbClr val="156082">
                  <a:alpha val="45882"/>
                </a:srgbClr>
              </a:gs>
            </a:gsLst>
            <a:lin ang="1800004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42"/>
          <p:cNvSpPr/>
          <p:nvPr/>
        </p:nvSpPr>
        <p:spPr>
          <a:xfrm flipH="1" rot="5400000">
            <a:off x="575875" y="2690996"/>
            <a:ext cx="1876500" cy="3028500"/>
          </a:xfrm>
          <a:prstGeom prst="rect">
            <a:avLst/>
          </a:prstGeom>
          <a:gradFill>
            <a:gsLst>
              <a:gs pos="0">
                <a:srgbClr val="156082">
                  <a:alpha val="28627"/>
                </a:srgbClr>
              </a:gs>
              <a:gs pos="2000">
                <a:srgbClr val="156082">
                  <a:alpha val="28627"/>
                </a:srgbClr>
              </a:gs>
              <a:gs pos="100000">
                <a:srgbClr val="000000">
                  <a:alpha val="29803"/>
                </a:srgbClr>
              </a:gs>
            </a:gsLst>
            <a:lin ang="7799903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42"/>
          <p:cNvSpPr/>
          <p:nvPr/>
        </p:nvSpPr>
        <p:spPr>
          <a:xfrm rot="-964601">
            <a:off x="-376648" y="727714"/>
            <a:ext cx="2922552" cy="3131309"/>
          </a:xfrm>
          <a:custGeom>
            <a:rect b="b" l="l" r="r" t="t"/>
            <a:pathLst>
              <a:path extrusionOk="0" h="4178958" w="3900357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0">
                <a:srgbClr val="000000">
                  <a:alpha val="0"/>
                </a:srgbClr>
              </a:gs>
              <a:gs pos="29000">
                <a:srgbClr val="000000">
                  <a:alpha val="0"/>
                </a:srgbClr>
              </a:gs>
              <a:gs pos="100000">
                <a:srgbClr val="156082">
                  <a:alpha val="42745"/>
                </a:srgbClr>
              </a:gs>
            </a:gsLst>
            <a:lin ang="1800004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42"/>
          <p:cNvSpPr/>
          <p:nvPr/>
        </p:nvSpPr>
        <p:spPr>
          <a:xfrm flipH="1" rot="5400000">
            <a:off x="-1057631" y="1049896"/>
            <a:ext cx="5143500" cy="30285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43AFE2">
                  <a:alpha val="10980"/>
                </a:srgbClr>
              </a:gs>
              <a:gs pos="100000">
                <a:srgbClr val="43AFE2">
                  <a:alpha val="10980"/>
                </a:srgbClr>
              </a:gs>
            </a:gsLst>
            <a:lin ang="7200017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42"/>
          <p:cNvSpPr txBox="1"/>
          <p:nvPr>
            <p:ph type="title"/>
          </p:nvPr>
        </p:nvSpPr>
        <p:spPr>
          <a:xfrm>
            <a:off x="350042" y="440141"/>
            <a:ext cx="2400900" cy="254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Times New Roman"/>
              <a:buNone/>
            </a:pPr>
            <a:r>
              <a:rPr b="1" lang="en-GB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Member Roles</a:t>
            </a:r>
            <a:endParaRPr/>
          </a:p>
        </p:txBody>
      </p:sp>
      <p:sp>
        <p:nvSpPr>
          <p:cNvPr id="343" name="Google Shape;343;p42"/>
          <p:cNvSpPr txBox="1"/>
          <p:nvPr>
            <p:ph idx="1" type="body"/>
          </p:nvPr>
        </p:nvSpPr>
        <p:spPr>
          <a:xfrm>
            <a:off x="3558150" y="259150"/>
            <a:ext cx="5172900" cy="430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70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GB" sz="1700">
                <a:latin typeface="Times New Roman"/>
                <a:ea typeface="Times New Roman"/>
                <a:cs typeface="Times New Roman"/>
                <a:sym typeface="Times New Roman"/>
              </a:rPr>
              <a:t>Hemanth Balla: Pipeline Architecture &amp; Implementation</a:t>
            </a:r>
            <a:endParaRPr b="1" sz="1700"/>
          </a:p>
          <a:p>
            <a:pPr indent="-277495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64705"/>
              <a:buChar char="●"/>
            </a:pPr>
            <a:r>
              <a:rPr lang="en-GB" sz="1700">
                <a:latin typeface="Times New Roman"/>
                <a:ea typeface="Times New Roman"/>
                <a:cs typeface="Times New Roman"/>
                <a:sym typeface="Times New Roman"/>
              </a:rPr>
              <a:t>Designed and built the end-to-end HALO-RAG pipeline (retrieval, generation, verification, revision).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749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64705"/>
              <a:buChar char="●"/>
            </a:pPr>
            <a:r>
              <a:rPr lang="en-GB" sz="1700">
                <a:latin typeface="Times New Roman"/>
                <a:ea typeface="Times New Roman"/>
                <a:cs typeface="Times New Roman"/>
                <a:sym typeface="Times New Roman"/>
              </a:rPr>
              <a:t>Implemented abstention mechanisms.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GB" sz="1700">
                <a:latin typeface="Times New Roman"/>
                <a:ea typeface="Times New Roman"/>
                <a:cs typeface="Times New Roman"/>
                <a:sym typeface="Times New Roman"/>
              </a:rPr>
              <a:t>Reshma Koshy: Verification &amp; Revision Strategies</a:t>
            </a:r>
            <a:endParaRPr b="1" sz="1700"/>
          </a:p>
          <a:p>
            <a:pPr indent="-27749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64705"/>
              <a:buChar char="●"/>
            </a:pPr>
            <a:r>
              <a:rPr lang="en-GB" sz="1700">
                <a:latin typeface="Times New Roman"/>
                <a:ea typeface="Times New Roman"/>
                <a:cs typeface="Times New Roman"/>
                <a:sym typeface="Times New Roman"/>
              </a:rPr>
              <a:t>Developed claim extraction and verification modules.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749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64705"/>
              <a:buChar char="●"/>
            </a:pPr>
            <a:r>
              <a:rPr lang="en-GB" sz="1700">
                <a:latin typeface="Times New Roman"/>
                <a:ea typeface="Times New Roman"/>
                <a:cs typeface="Times New Roman"/>
                <a:sym typeface="Times New Roman"/>
              </a:rPr>
              <a:t>Implemented five revision strategies (RE_RETRIEVAL, CONSTRAINED_GEN, CLAIM_BY_CLAIM, Dynamic, Baseline).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GB" sz="1700">
                <a:latin typeface="Times New Roman"/>
                <a:ea typeface="Times New Roman"/>
                <a:cs typeface="Times New Roman"/>
                <a:sym typeface="Times New Roman"/>
              </a:rPr>
              <a:t>Anisa Shaik: Evaluation &amp; Metrics</a:t>
            </a:r>
            <a:endParaRPr b="1" sz="1700"/>
          </a:p>
          <a:p>
            <a:pPr indent="-277495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64705"/>
              <a:buChar char="●"/>
            </a:pPr>
            <a:r>
              <a:rPr lang="en-GB" sz="1700">
                <a:latin typeface="Times New Roman"/>
                <a:ea typeface="Times New Roman"/>
                <a:cs typeface="Times New Roman"/>
                <a:sym typeface="Times New Roman"/>
              </a:rPr>
              <a:t>Designed evaluation framework with 14+ metrics (hallucination rate, Verified F1, factual precision)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749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64705"/>
              <a:buChar char="●"/>
            </a:pPr>
            <a:r>
              <a:rPr lang="en-GB" sz="1700">
                <a:latin typeface="Times New Roman"/>
                <a:ea typeface="Times New Roman"/>
                <a:cs typeface="Times New Roman"/>
                <a:sym typeface="Times New Roman"/>
              </a:rPr>
              <a:t>Run experiments on 5,000 questions, perform statistical analysis, and generate results.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GB" sz="1700">
                <a:latin typeface="Times New Roman"/>
                <a:ea typeface="Times New Roman"/>
                <a:cs typeface="Times New Roman"/>
                <a:sym typeface="Times New Roman"/>
              </a:rPr>
              <a:t>Pranay Reddy: Dataset &amp; Documentation</a:t>
            </a:r>
            <a:endParaRPr b="1" sz="1700"/>
          </a:p>
          <a:p>
            <a:pPr indent="-27749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64705"/>
              <a:buChar char="●"/>
            </a:pPr>
            <a:r>
              <a:rPr lang="en-GB" sz="1700">
                <a:latin typeface="Times New Roman"/>
                <a:ea typeface="Times New Roman"/>
                <a:cs typeface="Times New Roman"/>
                <a:sym typeface="Times New Roman"/>
              </a:rPr>
              <a:t>Preprocessed datasets (Squad_V2) and conducted baseline benchmarking.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749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64705"/>
              <a:buChar char="●"/>
            </a:pPr>
            <a:r>
              <a:rPr lang="en-GB" sz="1700">
                <a:latin typeface="Times New Roman"/>
                <a:ea typeface="Times New Roman"/>
                <a:cs typeface="Times New Roman"/>
                <a:sym typeface="Times New Roman"/>
              </a:rPr>
              <a:t>Prepared final presentation and documentation.</a:t>
            </a:r>
            <a:endParaRPr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4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43"/>
          <p:cNvSpPr/>
          <p:nvPr/>
        </p:nvSpPr>
        <p:spPr>
          <a:xfrm>
            <a:off x="0" y="0"/>
            <a:ext cx="91416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43"/>
          <p:cNvSpPr/>
          <p:nvPr/>
        </p:nvSpPr>
        <p:spPr>
          <a:xfrm flipH="1" rot="5400000">
            <a:off x="-1057624" y="1057500"/>
            <a:ext cx="5143500" cy="3028500"/>
          </a:xfrm>
          <a:prstGeom prst="rect">
            <a:avLst/>
          </a:prstGeom>
          <a:gradFill>
            <a:gsLst>
              <a:gs pos="0">
                <a:srgbClr val="000000"/>
              </a:gs>
              <a:gs pos="8000">
                <a:srgbClr val="000000"/>
              </a:gs>
              <a:gs pos="100000">
                <a:srgbClr val="0F4861"/>
              </a:gs>
            </a:gsLst>
            <a:lin ang="3000122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43"/>
          <p:cNvSpPr/>
          <p:nvPr/>
        </p:nvSpPr>
        <p:spPr>
          <a:xfrm flipH="1" rot="5400000">
            <a:off x="-1057624" y="1065104"/>
            <a:ext cx="5143500" cy="30285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156082">
                  <a:alpha val="45882"/>
                </a:srgbClr>
              </a:gs>
              <a:gs pos="100000">
                <a:srgbClr val="156082">
                  <a:alpha val="45882"/>
                </a:srgbClr>
              </a:gs>
            </a:gsLst>
            <a:lin ang="1800004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43"/>
          <p:cNvSpPr/>
          <p:nvPr/>
        </p:nvSpPr>
        <p:spPr>
          <a:xfrm flipH="1" rot="5400000">
            <a:off x="575875" y="2690996"/>
            <a:ext cx="1876500" cy="3028500"/>
          </a:xfrm>
          <a:prstGeom prst="rect">
            <a:avLst/>
          </a:prstGeom>
          <a:gradFill>
            <a:gsLst>
              <a:gs pos="0">
                <a:srgbClr val="156082">
                  <a:alpha val="28627"/>
                </a:srgbClr>
              </a:gs>
              <a:gs pos="2000">
                <a:srgbClr val="156082">
                  <a:alpha val="28627"/>
                </a:srgbClr>
              </a:gs>
              <a:gs pos="100000">
                <a:srgbClr val="000000">
                  <a:alpha val="29803"/>
                </a:srgbClr>
              </a:gs>
            </a:gsLst>
            <a:lin ang="7799903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43"/>
          <p:cNvSpPr/>
          <p:nvPr/>
        </p:nvSpPr>
        <p:spPr>
          <a:xfrm rot="-964601">
            <a:off x="-376648" y="727714"/>
            <a:ext cx="2922552" cy="3131309"/>
          </a:xfrm>
          <a:custGeom>
            <a:rect b="b" l="l" r="r" t="t"/>
            <a:pathLst>
              <a:path extrusionOk="0" h="4178958" w="3900357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0">
                <a:srgbClr val="000000">
                  <a:alpha val="0"/>
                </a:srgbClr>
              </a:gs>
              <a:gs pos="29000">
                <a:srgbClr val="000000">
                  <a:alpha val="0"/>
                </a:srgbClr>
              </a:gs>
              <a:gs pos="100000">
                <a:srgbClr val="156082">
                  <a:alpha val="42745"/>
                </a:srgbClr>
              </a:gs>
            </a:gsLst>
            <a:lin ang="1800004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43"/>
          <p:cNvSpPr/>
          <p:nvPr/>
        </p:nvSpPr>
        <p:spPr>
          <a:xfrm flipH="1" rot="5400000">
            <a:off x="-1057631" y="1049896"/>
            <a:ext cx="5143500" cy="30285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43AFE2">
                  <a:alpha val="10980"/>
                </a:srgbClr>
              </a:gs>
              <a:gs pos="100000">
                <a:srgbClr val="43AFE2">
                  <a:alpha val="10980"/>
                </a:srgbClr>
              </a:gs>
            </a:gsLst>
            <a:lin ang="7200017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43"/>
          <p:cNvSpPr txBox="1"/>
          <p:nvPr>
            <p:ph type="title"/>
          </p:nvPr>
        </p:nvSpPr>
        <p:spPr>
          <a:xfrm>
            <a:off x="350042" y="440141"/>
            <a:ext cx="2400900" cy="254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Times New Roman"/>
              <a:buNone/>
            </a:pPr>
            <a:r>
              <a:rPr b="1" lang="en-GB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</a:t>
            </a:r>
            <a:endParaRPr/>
          </a:p>
        </p:txBody>
      </p:sp>
      <p:sp>
        <p:nvSpPr>
          <p:cNvPr id="356" name="Google Shape;356;p43"/>
          <p:cNvSpPr txBox="1"/>
          <p:nvPr>
            <p:ph idx="1" type="body"/>
          </p:nvPr>
        </p:nvSpPr>
        <p:spPr>
          <a:xfrm>
            <a:off x="3577969" y="288910"/>
            <a:ext cx="4916400" cy="415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-GB" sz="1800">
                <a:latin typeface="Times New Roman"/>
                <a:ea typeface="Times New Roman"/>
                <a:cs typeface="Times New Roman"/>
                <a:sym typeface="Times New Roman"/>
              </a:rPr>
              <a:t>What happens in HALO-RAG when a generated answer fails verification?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A. The system automatically outputs the answer anyway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B. The system ignores the verification results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C. The system triggers adaptive revision to regenerate a corrected answer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D. The system retrieves fewer documents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-GB" sz="1800">
                <a:latin typeface="Times New Roman"/>
                <a:ea typeface="Times New Roman"/>
                <a:cs typeface="Times New Roman"/>
                <a:sym typeface="Times New Roman"/>
              </a:rPr>
              <a:t>Answer: C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4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44"/>
          <p:cNvSpPr/>
          <p:nvPr/>
        </p:nvSpPr>
        <p:spPr>
          <a:xfrm>
            <a:off x="0" y="0"/>
            <a:ext cx="91416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44"/>
          <p:cNvSpPr/>
          <p:nvPr/>
        </p:nvSpPr>
        <p:spPr>
          <a:xfrm flipH="1" rot="5400000">
            <a:off x="-1057624" y="1057500"/>
            <a:ext cx="5143500" cy="3028500"/>
          </a:xfrm>
          <a:prstGeom prst="rect">
            <a:avLst/>
          </a:prstGeom>
          <a:gradFill>
            <a:gsLst>
              <a:gs pos="0">
                <a:srgbClr val="000000"/>
              </a:gs>
              <a:gs pos="8000">
                <a:srgbClr val="000000"/>
              </a:gs>
              <a:gs pos="100000">
                <a:srgbClr val="0F4861"/>
              </a:gs>
            </a:gsLst>
            <a:lin ang="3000122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44"/>
          <p:cNvSpPr/>
          <p:nvPr/>
        </p:nvSpPr>
        <p:spPr>
          <a:xfrm flipH="1" rot="5400000">
            <a:off x="-1057624" y="1065104"/>
            <a:ext cx="5143500" cy="30285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156082">
                  <a:alpha val="45882"/>
                </a:srgbClr>
              </a:gs>
              <a:gs pos="100000">
                <a:srgbClr val="156082">
                  <a:alpha val="45882"/>
                </a:srgbClr>
              </a:gs>
            </a:gsLst>
            <a:lin ang="1800004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44"/>
          <p:cNvSpPr/>
          <p:nvPr/>
        </p:nvSpPr>
        <p:spPr>
          <a:xfrm flipH="1" rot="5400000">
            <a:off x="575875" y="2690996"/>
            <a:ext cx="1876500" cy="3028500"/>
          </a:xfrm>
          <a:prstGeom prst="rect">
            <a:avLst/>
          </a:prstGeom>
          <a:gradFill>
            <a:gsLst>
              <a:gs pos="0">
                <a:srgbClr val="156082">
                  <a:alpha val="28627"/>
                </a:srgbClr>
              </a:gs>
              <a:gs pos="2000">
                <a:srgbClr val="156082">
                  <a:alpha val="28627"/>
                </a:srgbClr>
              </a:gs>
              <a:gs pos="100000">
                <a:srgbClr val="000000">
                  <a:alpha val="29803"/>
                </a:srgbClr>
              </a:gs>
            </a:gsLst>
            <a:lin ang="7799903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44"/>
          <p:cNvSpPr/>
          <p:nvPr/>
        </p:nvSpPr>
        <p:spPr>
          <a:xfrm rot="-964601">
            <a:off x="-376648" y="727714"/>
            <a:ext cx="2922552" cy="3131309"/>
          </a:xfrm>
          <a:custGeom>
            <a:rect b="b" l="l" r="r" t="t"/>
            <a:pathLst>
              <a:path extrusionOk="0" h="4178958" w="3900357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0">
                <a:srgbClr val="000000">
                  <a:alpha val="0"/>
                </a:srgbClr>
              </a:gs>
              <a:gs pos="29000">
                <a:srgbClr val="000000">
                  <a:alpha val="0"/>
                </a:srgbClr>
              </a:gs>
              <a:gs pos="100000">
                <a:srgbClr val="156082">
                  <a:alpha val="42745"/>
                </a:srgbClr>
              </a:gs>
            </a:gsLst>
            <a:lin ang="1800004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44"/>
          <p:cNvSpPr/>
          <p:nvPr/>
        </p:nvSpPr>
        <p:spPr>
          <a:xfrm flipH="1" rot="5400000">
            <a:off x="-1057631" y="1049896"/>
            <a:ext cx="5143500" cy="30285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43AFE2">
                  <a:alpha val="10980"/>
                </a:srgbClr>
              </a:gs>
              <a:gs pos="100000">
                <a:srgbClr val="43AFE2">
                  <a:alpha val="10980"/>
                </a:srgbClr>
              </a:gs>
            </a:gsLst>
            <a:lin ang="7200017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44"/>
          <p:cNvSpPr txBox="1"/>
          <p:nvPr>
            <p:ph type="title"/>
          </p:nvPr>
        </p:nvSpPr>
        <p:spPr>
          <a:xfrm>
            <a:off x="350042" y="440141"/>
            <a:ext cx="2400900" cy="254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Times New Roman"/>
              <a:buNone/>
            </a:pPr>
            <a:r>
              <a:rPr b="1" lang="en-GB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/>
          </a:p>
        </p:txBody>
      </p:sp>
      <p:sp>
        <p:nvSpPr>
          <p:cNvPr id="369" name="Google Shape;369;p44"/>
          <p:cNvSpPr txBox="1"/>
          <p:nvPr>
            <p:ph idx="1" type="body"/>
          </p:nvPr>
        </p:nvSpPr>
        <p:spPr>
          <a:xfrm>
            <a:off x="3607694" y="487110"/>
            <a:ext cx="4916400" cy="415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92500" lnSpcReduction="10000"/>
          </a:bodyPr>
          <a:lstStyle/>
          <a:p>
            <a:pPr indent="-181927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Lewis, P., et al. (2020). Retrieval-Augmented Generation for Knowledge-Intensive NLP Tasks. NeurIPS. </a:t>
            </a:r>
            <a:endParaRPr/>
          </a:p>
          <a:p>
            <a:pPr indent="-181927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Manakul, P., et al. (2023). SelfCheckGPT: Zero-Resource Black-Box Hallucination Detection for Generative Large Language Models. arXiv:2303.08896. </a:t>
            </a:r>
            <a:endParaRPr/>
          </a:p>
          <a:p>
            <a:pPr indent="-181927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Gao, Y., et al. (2023). Retrieval-Augmented Generation for Large Language Models: A Survey. arXiv:2312.10997.</a:t>
            </a:r>
            <a:endParaRPr/>
          </a:p>
          <a:p>
            <a:pPr indent="-181927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Thorne, J., et al. (2018). FEVER: a Large-scale Dataset for Fact Extraction and VERification. NAACL. </a:t>
            </a:r>
            <a:endParaRPr/>
          </a:p>
          <a:p>
            <a:pPr indent="-181927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Rajpurkar, P., et al. (2018). Know What You Don't Know: Unanswerable Questions for SQuAD. ACL. </a:t>
            </a:r>
            <a:endParaRPr/>
          </a:p>
          <a:p>
            <a:pPr indent="-181927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Kwiatkowski, T., et al. (2019). Natural Questions: A Benchmark for Question Answering Research. TACL. 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4" name="Google Shape;374;p45"/>
          <p:cNvPicPr preferRelativeResize="0"/>
          <p:nvPr/>
        </p:nvPicPr>
        <p:blipFill rotWithShape="1">
          <a:blip r:embed="rId3">
            <a:alphaModFix/>
          </a:blip>
          <a:srcRect b="0" l="1661" r="0" t="0"/>
          <a:stretch/>
        </p:blipFill>
        <p:spPr>
          <a:xfrm>
            <a:off x="0" y="0"/>
            <a:ext cx="9144000" cy="4991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